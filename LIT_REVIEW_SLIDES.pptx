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error (MAPE 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32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A6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A6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703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Naive: tomorrow = today</c:v>
                  </c:pt>
                  <c:pt idx="1">
                    <c:v>Ridge regression</c:v>
                  </c:pt>
                  <c:pt idx="2">
                    <c:v>RF on price levels</c:v>
                  </c:pt>
                  <c:pt idx="3">
                    <c:v>Random Forest (ours)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1.561</c:v>
                </c:pt>
                <c:pt idx="1">
                  <c:v>1.567</c:v>
                </c:pt>
                <c:pt idx="2">
                  <c:v>1.583</c:v>
                </c:pt>
                <c:pt idx="3">
                  <c:v>1.56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2632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32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75"/>
          <c:min val="1.5"/>
        </c:scaling>
        <c:delete val="0"/>
        <c:axPos val="b"/>
        <c:majorGridlines>
          <c:spPr>
            <a:ln w="12700" cap="flat">
              <a:solidFill>
                <a:srgbClr val="E3E9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Stocks studied</c:v>
                </c:pt>
              </c:strCache>
            </c:strRef>
          </c:tx>
          <c:spPr>
            <a:solidFill>
              <a:srgbClr val="8FA6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32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A6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A6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A6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FA6C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FA6C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703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Manikrao 2025</c:v>
                  </c:pt>
                  <c:pt idx="1">
                    <c:v>Indra 2025</c:v>
                  </c:pt>
                  <c:pt idx="2">
                    <c:v>Song 2026</c:v>
                  </c:pt>
                  <c:pt idx="3">
                    <c:v>Lee &amp; Cai 2025</c:v>
                  </c:pt>
                  <c:pt idx="4">
                    <c:v>Pagliaro 2026</c:v>
                  </c:pt>
                  <c:pt idx="5">
                    <c:v>This project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6</c:v>
                </c:pt>
                <c:pt idx="2">
                  <c:v>20</c:v>
                </c:pt>
                <c:pt idx="3">
                  <c:v>22</c:v>
                </c:pt>
                <c:pt idx="4">
                  <c:v>51</c:v>
                </c:pt>
                <c:pt idx="5">
                  <c:v>474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632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32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0"/>
          <c:min val="0"/>
        </c:scaling>
        <c:delete val="0"/>
        <c:axPos val="b"/>
        <c:majorGridlines>
          <c:spPr>
            <a:ln w="12700" cap="flat">
              <a:solidFill>
                <a:srgbClr val="E3E9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Remove top-SHAP features first</c:v>
                </c:pt>
              </c:strCache>
            </c:strRef>
          </c:tx>
          <c:spPr>
            <a:solidFill>
              <a:srgbClr val="E8703A"/>
            </a:solidFill>
            <a:ln w="38100" cap="flat">
              <a:solidFill>
                <a:srgbClr val="E870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8703A"/>
              </a:solidFill>
              <a:ln w="9525" cap="flat">
                <a:solidFill>
                  <a:srgbClr val="E870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4</c:v>
                  </c:pt>
                  <c:pt idx="4">
                    <c:v>8</c:v>
                  </c:pt>
                  <c:pt idx="5">
                    <c:v>16</c:v>
                  </c:pt>
                  <c:pt idx="6">
                    <c:v>32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8.7</c:v>
                </c:pt>
                <c:pt idx="2">
                  <c:v>8.39</c:v>
                </c:pt>
                <c:pt idx="3">
                  <c:v>8.36</c:v>
                </c:pt>
                <c:pt idx="4">
                  <c:v>8.47</c:v>
                </c:pt>
                <c:pt idx="5">
                  <c:v>8.56</c:v>
                </c:pt>
                <c:pt idx="6">
                  <c:v>8.59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Remove random features</c:v>
                </c:pt>
              </c:strCache>
            </c:strRef>
          </c:tx>
          <c:spPr>
            <a:solidFill>
              <a:srgbClr val="8FA6CC"/>
            </a:solidFill>
            <a:ln w="38100" cap="flat">
              <a:solidFill>
                <a:srgbClr val="8FA6C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FA6CC"/>
              </a:solidFill>
              <a:ln w="9525" cap="flat">
                <a:solidFill>
                  <a:srgbClr val="8FA6C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4</c:v>
                  </c:pt>
                  <c:pt idx="4">
                    <c:v>8</c:v>
                  </c:pt>
                  <c:pt idx="5">
                    <c:v>16</c:v>
                  </c:pt>
                  <c:pt idx="6">
                    <c:v>32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0.65</c:v>
                </c:pt>
                <c:pt idx="2">
                  <c:v>1.19</c:v>
                </c:pt>
                <c:pt idx="3">
                  <c:v>2.04</c:v>
                </c:pt>
                <c:pt idx="4">
                  <c:v>3.65</c:v>
                </c:pt>
                <c:pt idx="5">
                  <c:v>5.88</c:v>
                </c:pt>
                <c:pt idx="6">
                  <c:v>8.59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472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6472"/>
                    </a:solidFill>
                    <a:latin typeface="Arial"/>
                  </a:rPr>
                  <a:t>features removed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32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472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6472"/>
                    </a:solidFill>
                    <a:latin typeface="Arial"/>
                  </a:rPr>
                  <a:t>change in forecast (bp)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6324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Project: build a Random Forest that predicts next-day closing prices for 474 S&amp;P 500 stocks, then test whether its SHAP and LIME explanations can be 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1 is about accuracy claims; problem 2 is about explanation claims. My project addresses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units are returns. Our forecasts vary by only 10.8 basis points while real next-day returns vary by 245 — the model hedges to near-zero, which is exactly what makes the price numbers look good. Direction accuracy is 51.8%, below the 52.8% you get by always predicting the majority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Papers 1 and 3 report SHAP/LIME outputs as findings without validating them. Paper 2 is the closest on comparing explainers.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are the closest work. Paper 4 shows regime differences but does not test them; paper 5 proves explanations can be seed noise, but only for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papers 2, 4 and 5 each test one property. My contribution is the full validation protocol plus the two tests nobody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questions = five reliability tests. These map directly onto my results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model predicts every stock every day. Walk-forward testing means the test years are never used for any design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curves were the same, the explanation would be decoration. Fidelity: the SHAP values of removed features predict the actual change at r = 0.98.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nuance: faithful does not mean the market insight is real. SHAP and permutation importance disagree almost completely.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challenged that this exists already: concede that papers 2, 4 and 5 each test one property, on 6-51 stocks. The contribution is running the full protocol together on 474 stocks.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32F63"/>
          </a:solidFill>
          <a:ln w="12700">
            <a:solidFill>
              <a:srgbClr val="232F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PROBLEM STATEMENT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Trustworthy Explanations for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Random-Forest Stock Price Forecasting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11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trust what SHAP and LIME tell us about a stock model?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526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474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074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stocks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4526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405,545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5074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forecasts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4526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5074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reviewed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problems in the current literature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D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7452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745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is reported without a benchmark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974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report R² of 0.88–0.99 for price prediction.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“tomorrow's price = today's price” already scores R² ≈ 0.999.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that comparison, we cannot tell if a model has any real skill.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D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874520"/>
            <a:ext cx="402336" cy="402336"/>
          </a:xfrm>
          <a:prstGeom prst="ellipse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8745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Explanations are presented, never tested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6974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or LIME rankings are reported as market insight.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checks if they are faithful, stable, or agree with each other.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explanation can describe noise, or one random seed.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1206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 explanations in finance lead to real money decisions made on false reasoning.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ACCURACY TRAP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“98% accurate” means nothing on its own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6751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0020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D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95528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shows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28600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Random Forest: 1.560% error, i.e. 98.44% “accuracy”.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forecast: 1.561%. Identical (p = 0.30).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same forecasts on the return instead of the price and R² falls from 0.9994 to +0.00013.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on raw prices has R² 0.993 yet is significantly worse than naive.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257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better. All four models land within 0.03% of each other — because price-level error measures the price, not the forecast.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(1 OF 2)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recent papers did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1078992"/>
          </a:xfrm>
          <a:prstGeom prst="roundRect">
            <a:avLst>
              <a:gd name="adj" fmla="val 6780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D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8366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642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Indra et al. (2025), J. Risk &amp; Financial Management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65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Indonesian LQ45 stocks, 2016–2025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128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XGBoost, Ridge + SHAP; backtest with costs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71907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49–54%; all strategies lose to buy-and-hold; SHAP effects negligible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144000" y="16824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19019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stocks; SHAP never validated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761488"/>
            <a:ext cx="1090879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D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309067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8712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 &amp; Cai (2025), Machine Learning with Applications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1729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NASDAQ stocks, 11 sectors, 2019–2024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4198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models; compares SHAP vs permutation vs Gini importance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2926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is the least stable ranking method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288950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agreement, not correctness; no LIME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968496"/>
            <a:ext cx="10908792" cy="1078992"/>
          </a:xfrm>
          <a:prstGeom prst="roundRect">
            <a:avLst>
              <a:gd name="adj" fmla="val 6780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D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8680" y="429768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0782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Manikrao et al. (2025), J. Comp. &amp; Cognitive Eng.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43799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(AAPL) only, 2020–2024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46268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+ attention + sentiment; SHAP and LIME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760720" y="413308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0.88 with interpretable outputs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144000" y="40965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43159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stock; SHAP and LIME never compared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(2 OF 2)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papers that started testing explanations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1645920"/>
          </a:xfrm>
          <a:prstGeom prst="roundRect">
            <a:avLst>
              <a:gd name="adj" fmla="val 4444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D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21408"/>
            <a:ext cx="402336" cy="402336"/>
          </a:xfrm>
          <a:prstGeom prst="ellipse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190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Pagliaro (2026), Electronics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0848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NASDAQ-100 stocks, 2015–2026, plus VIX, gold, Bitcoin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560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Hidden Markov regimes; walk-forward; SHAP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7830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Model's reasoning changes by market phase: 200-day average in bear markets, yield curve and beta in bull markets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235440" y="1783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235440" y="2011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only, one stock (AMD), no significance test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1090879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D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3950208"/>
            <a:ext cx="402336" cy="402336"/>
          </a:xfrm>
          <a:prstGeom prst="ellipse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5478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Song et al. (2026), Electronics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9136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stocks (CSI 300 + S&amp;P 500), 2016–2023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389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1,600 runs: 16 setups × 20 stocks × 5 random seeds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36118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from different random seeds shared almost nothing (overlap 0.046) — the explanations were noise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3611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3840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 in neural nets, not SHAP or LIME on trees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has been tested, and what has not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572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DONE BY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06640" y="1572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UNTESTED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65376"/>
            <a:ext cx="11183112" cy="54864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938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explainers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938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(SHAP vs permutation)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1938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vs LIME on the same forecasts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5420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of explanations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5420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2, Paper 5 (attention only)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5420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&amp; retraining for SHAP on trees; LIME run-to-run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072384"/>
            <a:ext cx="11183112" cy="54864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455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by market phase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31455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4 (descriptive, 1 stock)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31455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 of the difference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3749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3749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02920" y="4279392"/>
            <a:ext cx="11183112" cy="54864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3525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No-signal control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3840480" y="43525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435254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16203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D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60120" y="5257800"/>
            <a:ext cx="10268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searching all five PDFs: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“faithful”, “deletion” and “sanity” appear 0 times. No paper uses a shuffled-label control. LIME appears in one paper only, never compared with its own SHAP results.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daily price and volume data for 474 S&amp;P 500 stocks, build a Random Forest that forecasts each stock's next-day closing price, measure its accuracy against a naive “tomorrow = today” benchmark, and determine whether its SHAP and LIME explanations can be trusted.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232F63"/>
          </a:solidFill>
          <a:ln w="12700">
            <a:solidFill>
              <a:srgbClr val="3543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Faithful?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2160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features it ranks highest really drive the prediction?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324612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232F63"/>
          </a:solidFill>
          <a:ln w="12700">
            <a:solidFill>
              <a:srgbClr val="3543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372160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explanation after retraining, a new seed, or re-running LIME?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63840" y="324612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232F63"/>
          </a:solidFill>
          <a:ln w="12700">
            <a:solidFill>
              <a:srgbClr val="3543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9244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Agreed?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372160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SHAP and LIME say the same thing about one forecast?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232F63"/>
          </a:solidFill>
          <a:ln w="12700">
            <a:solidFill>
              <a:srgbClr val="35437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800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Meaningful?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13892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from a model trained on scrambled labels?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51960" y="466344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232F63"/>
          </a:solidFill>
          <a:ln w="12700">
            <a:solidFill>
              <a:srgbClr val="3543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0560" y="4800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Consistent?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513892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explanations change across crashes and sectors?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Design: one model, 474 stocks, 10 years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0350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645920"/>
            <a:ext cx="4526280" cy="3566160"/>
          </a:xfrm>
          <a:prstGeom prst="roundRect">
            <a:avLst>
              <a:gd name="adj" fmla="val 2051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D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6092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2286000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474 S&amp;P 500 stocks, 11 sectors, 2012–2022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million stock-days; 405,545 test forecasts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300 trees, 32 technical features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 every January, tested on the next year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38,183 forecasts explained with SHAP; LIME run 5× each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reviewed paper used between 1 and 51 stocks.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NEW TEST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Faithfulness: delete what the explanation calls important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492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9808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498080" y="224028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0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28432" y="22219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SHAP which features drove one forecast.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98080" y="289864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0" y="2898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028432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top one with a value from a random training day.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98080" y="3557016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028432" y="35387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model: how far did the forecast move?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498080" y="421538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0" y="4215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028432" y="419709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in random order as a control, over 2,000 stock-days.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498080" y="4937760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D">
                <a:alpha val="2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726680" y="51023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13×</a:t>
            </a:r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more movement than deleting random features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audit found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D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57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0.0001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next-day return — no better than predicting no change (p = 0.97), though it reads as 98.44% in price units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D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57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13×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6060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top-SHAP features move forecasts 13× more than random ones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64592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D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0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057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 0.85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6060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agrees across random seeds; LIME only ρ 0.48 between runs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D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3685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931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 0.03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4805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vs accuracy-based importance: only 4 of 32 features help accuracy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52044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D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572000" y="3685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3931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 0.13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4805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differ sharply from a no-signal model — they pass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0" y="352044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12700" dir="5400000">
              <a:srgbClr val="9AA7BD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29600" y="3685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3931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0.003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4805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change significantly across market regimes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4864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explanations are faithful and stable — but they describe what the model does, not what predicts the market.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566160"/>
            <a:ext cx="4572000" cy="45720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validation protocol, not a new XAI method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402336" cy="402336"/>
          </a:xfrm>
          <a:prstGeom prst="ellipse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3134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Benchmarked accuracy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reported next to naive persistence, with a significance test.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402336" cy="402336"/>
          </a:xfrm>
          <a:prstGeom prst="ellipse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182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tests nobody runs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318211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(deletion) and a no-signal control model.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402336" cy="402336"/>
          </a:xfrm>
          <a:prstGeom prst="ellipse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0507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SHAP vs LIME comparison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40507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same 804 forecasts, five runs each.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402336" cy="402336"/>
          </a:xfrm>
          <a:prstGeom prst="ellipse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937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9194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 tested, not described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49194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tests across 4 market regimes and 11 sectors.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0350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474 S&amp;P 500 stocks · daily price and volume only · 2012–2022 · code and data reproducible end to end.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Trustworthy Explanations for Random-Forest Stock Price Forecasting</dc:title>
  <dc:subject>PptxGenJS Presentation</dc:subject>
  <dc:creator>StockRF-XAI</dc:creator>
  <cp:lastModifiedBy>StockRF-XAI</cp:lastModifiedBy>
  <cp:revision>1</cp:revision>
  <dcterms:created xsi:type="dcterms:W3CDTF">2026-10-21T04:54:33Z</dcterms:created>
  <dcterms:modified xsi:type="dcterms:W3CDTF">2026-10-21T04:54:33Z</dcterms:modified>
</cp:coreProperties>
</file>