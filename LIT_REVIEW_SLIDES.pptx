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error (MAPE %)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6324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A6C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A6C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8703A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Naive: tomorrow = today</c:v>
                  </c:pt>
                  <c:pt idx="1">
                    <c:v>Ridge regression</c:v>
                  </c:pt>
                  <c:pt idx="2">
                    <c:v>RF on price levels</c:v>
                  </c:pt>
                  <c:pt idx="3">
                    <c:v>Random Forest (ours)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1.561</c:v>
                </c:pt>
                <c:pt idx="1">
                  <c:v>1.567</c:v>
                </c:pt>
                <c:pt idx="2">
                  <c:v>1.583</c:v>
                </c:pt>
                <c:pt idx="3">
                  <c:v>1.56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26324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6324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5"/>
          <c:min val="1.5"/>
        </c:scaling>
        <c:delete val="0"/>
        <c:axPos val="b"/>
        <c:majorGridlines>
          <c:spPr>
            <a:ln w="12700" cap="flat">
              <a:solidFill>
                <a:srgbClr val="E3E9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4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Stocks studied</c:v>
                </c:pt>
              </c:strCache>
            </c:strRef>
          </c:tx>
          <c:spPr>
            <a:solidFill>
              <a:srgbClr val="8FA6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6324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A6C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A6C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A6C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A6C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FA6C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8703A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Manikrao 2025</c:v>
                  </c:pt>
                  <c:pt idx="1">
                    <c:v>Indra 2025</c:v>
                  </c:pt>
                  <c:pt idx="2">
                    <c:v>Song 2026</c:v>
                  </c:pt>
                  <c:pt idx="3">
                    <c:v>Lee &amp; Cai 2025</c:v>
                  </c:pt>
                  <c:pt idx="4">
                    <c:v>Pagliaro 2026</c:v>
                  </c:pt>
                  <c:pt idx="5">
                    <c:v>This project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6</c:v>
                </c:pt>
                <c:pt idx="2">
                  <c:v>20</c:v>
                </c:pt>
                <c:pt idx="3">
                  <c:v>22</c:v>
                </c:pt>
                <c:pt idx="4">
                  <c:v>51</c:v>
                </c:pt>
                <c:pt idx="5">
                  <c:v>474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6324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6324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60"/>
          <c:min val="0"/>
        </c:scaling>
        <c:delete val="0"/>
        <c:axPos val="b"/>
        <c:majorGridlines>
          <c:spPr>
            <a:ln w="12700" cap="flat">
              <a:solidFill>
                <a:srgbClr val="E3E9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4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Remove top-SHAP features first</c:v>
                </c:pt>
              </c:strCache>
            </c:strRef>
          </c:tx>
          <c:spPr>
            <a:solidFill>
              <a:srgbClr val="E8703A"/>
            </a:solidFill>
            <a:ln w="38100" cap="flat">
              <a:solidFill>
                <a:srgbClr val="E8703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E8703A"/>
              </a:solidFill>
              <a:ln w="9525" cap="flat">
                <a:solidFill>
                  <a:srgbClr val="E870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4</c:v>
                  </c:pt>
                  <c:pt idx="4">
                    <c:v>8</c:v>
                  </c:pt>
                  <c:pt idx="5">
                    <c:v>16</c:v>
                  </c:pt>
                  <c:pt idx="6">
                    <c:v>32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8.7</c:v>
                </c:pt>
                <c:pt idx="2">
                  <c:v>8.39</c:v>
                </c:pt>
                <c:pt idx="3">
                  <c:v>8.36</c:v>
                </c:pt>
                <c:pt idx="4">
                  <c:v>8.47</c:v>
                </c:pt>
                <c:pt idx="5">
                  <c:v>8.56</c:v>
                </c:pt>
                <c:pt idx="6">
                  <c:v>8.59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Remove random features</c:v>
                </c:pt>
              </c:strCache>
            </c:strRef>
          </c:tx>
          <c:spPr>
            <a:solidFill>
              <a:srgbClr val="8FA6CC"/>
            </a:solidFill>
            <a:ln w="38100" cap="flat">
              <a:solidFill>
                <a:srgbClr val="8FA6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FA6CC"/>
              </a:solidFill>
              <a:ln w="9525" cap="flat">
                <a:solidFill>
                  <a:srgbClr val="8FA6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4</c:v>
                  </c:pt>
                  <c:pt idx="4">
                    <c:v>8</c:v>
                  </c:pt>
                  <c:pt idx="5">
                    <c:v>16</c:v>
                  </c:pt>
                  <c:pt idx="6">
                    <c:v>32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0.65</c:v>
                </c:pt>
                <c:pt idx="2">
                  <c:v>1.19</c:v>
                </c:pt>
                <c:pt idx="3">
                  <c:v>2.04</c:v>
                </c:pt>
                <c:pt idx="4">
                  <c:v>3.65</c:v>
                </c:pt>
                <c:pt idx="5">
                  <c:v>5.88</c:v>
                </c:pt>
                <c:pt idx="6">
                  <c:v>8.59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A6472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A6472"/>
                    </a:solidFill>
                    <a:latin typeface="Arial"/>
                  </a:rPr>
                  <a:t>features removed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6324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3E9F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A6472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A6472"/>
                    </a:solidFill>
                    <a:latin typeface="Arial"/>
                  </a:rPr>
                  <a:t>change in forecast (bp)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472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6324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Project: build a Random Forest that predicts next-day closing prices for 474 S&amp;P 500 stocks, then test whether its SHAP and LIME explanations can be trusted.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1 is about accuracy claims; problem 2 is about explanation claims. My project addresses both.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Direction accuracy is the fairer measure: ours is 51.8%, below the 52.8% you get by always predicting the majority direction.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Papers 1 and 3 report SHAP/LIME outputs as findings without validating them. Paper 2 is the closest on comparing explainers.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two are the closest work. Paper 4 shows regime differences but does not test them; paper 5 proves explanations can be seed noise, but only for attention.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honest: papers 2, 4 and 5 each test one property. My contribution is the full validation protocol plus the two tests nobody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questions = five reliability tests. These map directly onto my results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model predicts every stock every day. Walk-forward testing means the test years are never used for any design choice.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curves were the same, the explanation would be decoration. Fidelity: the SHAP values of removed features predict the actual change at r = 0.98.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nuance: faithful does not mean the market insight is real. SHAP and permutation importance disagree almost completely.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challenged that this exists already: concede that papers 2, 4 and 5 each test one property, on 6-51 stocks. The contribution is running the full protocol together on 474 stocks.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0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371600"/>
            <a:ext cx="4754880" cy="47548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607040" y="4206240"/>
            <a:ext cx="2743200" cy="2743200"/>
          </a:xfrm>
          <a:prstGeom prst="ellipse">
            <a:avLst/>
          </a:prstGeom>
          <a:solidFill>
            <a:srgbClr val="232F63"/>
          </a:solidFill>
          <a:ln w="12700">
            <a:solidFill>
              <a:srgbClr val="232F6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&amp; PROBLEM STATEMENT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28800"/>
            <a:ext cx="8595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Trustworthy Explanations for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Random-Forest Stock Price Forecasting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61188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we trust what SHAP and LIME tell us about a stock model?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5262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7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474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0749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500 stocks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45262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7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405,545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50749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forecasts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452628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7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50749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papers reviewed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problems in the current literature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257800" cy="3246120"/>
          </a:xfrm>
          <a:prstGeom prst="roundRect">
            <a:avLst>
              <a:gd name="adj" fmla="val 2254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D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874520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1874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87452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 is reported without a benchmark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69748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Papers report R² of 0.88–0.99 for price prediction.</a:t>
            </a:r>
            <a:endParaRPr lang="en-US" sz="14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“tomorrow's price = today's price” already scores R² ≈ 0.999.</a:t>
            </a:r>
            <a:endParaRPr lang="en-US" sz="14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that comparison, we cannot tell if a model has any real skill.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263640" y="1600200"/>
            <a:ext cx="5257800" cy="3246120"/>
          </a:xfrm>
          <a:prstGeom prst="roundRect">
            <a:avLst>
              <a:gd name="adj" fmla="val 2254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D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0" y="1874520"/>
            <a:ext cx="402336" cy="402336"/>
          </a:xfrm>
          <a:prstGeom prst="ellipse">
            <a:avLst/>
          </a:prstGeom>
          <a:solidFill>
            <a:srgbClr val="E8703A"/>
          </a:solidFill>
          <a:ln w="12700">
            <a:solidFill>
              <a:srgbClr val="E870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1874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0" y="187452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Explanations are presented, never tested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269748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or LIME rankings are reported as market insight.</a:t>
            </a:r>
            <a:endParaRPr lang="en-US" sz="14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checks if they are faithful, stable, or agree with each other.</a:t>
            </a:r>
            <a:endParaRPr lang="en-US" sz="14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explanation can describe noise, or one random seed.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12064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Misleading explanations in finance lead to real money decisions made on false reasoning.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ACCURACY TRAP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“98% accurate” means nothing on its own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00200"/>
          <a:ext cx="66751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635240" y="1600200"/>
            <a:ext cx="3931920" cy="3566160"/>
          </a:xfrm>
          <a:prstGeom prst="roundRect">
            <a:avLst>
              <a:gd name="adj" fmla="val 2051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D">
                <a:alpha val="25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955280" y="182880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shows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909560" y="228600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Random Forest: 1.560% error, i.e. 98.44% “accuracy”.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naive forecast: 1.561%. Identical (p = 0.30).</a:t>
            </a:r>
            <a:endParaRPr lang="en-US" sz="1400" dirty="0"/>
          </a:p>
          <a:p>
            <a:pPr marL="342900" indent="-342900">
              <a:lnSpc>
                <a:spcPts val="19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Random Forest on raw prices has R² 0.993 yet is significantly worse than naive.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257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is better. All four models land within 0.03% of each other.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(1 OF 2)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recent papers did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908792" cy="1078992"/>
          </a:xfrm>
          <a:prstGeom prst="roundRect">
            <a:avLst>
              <a:gd name="adj" fmla="val 6780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D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883664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8836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66420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Indra et al. (2025), J. Risk &amp; Financial Management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19659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Indonesian LQ45 stocks, 2016–2025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21284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RF, XGBoost, Ridge + SHAP; backtest with costs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760720" y="171907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49–54%; all strategies lose to buy-and-hold; SHAP effects negligible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9144000" y="1682496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0" y="1901952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stocks; SHAP never validated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2761488"/>
            <a:ext cx="10908792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D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3090672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3090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287121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Lee &amp; Cai (2025), Machine Learning with Applications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1729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NASDAQ stocks, 11 sectors, 2019–2024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41985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models; compares SHAP vs permutation vs Gini importance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760720" y="292608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is the least stable ranking method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144000" y="2889504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0" y="31089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agreement, not correctness; no LIME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3968496"/>
            <a:ext cx="10908792" cy="1078992"/>
          </a:xfrm>
          <a:prstGeom prst="roundRect">
            <a:avLst>
              <a:gd name="adj" fmla="val 6780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D">
                <a:alpha val="2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68680" y="4297680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68680" y="42976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417320" y="407822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Manikrao et al. (2025), J. Comp. &amp; Cognitive Eng.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417320" y="437997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(AAPL) only, 2020–2024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417320" y="462686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+ attention + sentiment; SHAP and LIME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760720" y="4133088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0.88 with interpretable outputs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9144000" y="409651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9144000" y="431596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stock; SHAP and LIME never compared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REVIEW (2 OF 2)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papers that started testing explanations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908792" cy="1645920"/>
          </a:xfrm>
          <a:prstGeom prst="roundRect">
            <a:avLst>
              <a:gd name="adj" fmla="val 4444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D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21408"/>
            <a:ext cx="402336" cy="402336"/>
          </a:xfrm>
          <a:prstGeom prst="ellipse">
            <a:avLst/>
          </a:prstGeom>
          <a:solidFill>
            <a:srgbClr val="E8703A"/>
          </a:solidFill>
          <a:ln w="12700">
            <a:solidFill>
              <a:srgbClr val="E870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121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190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Pagliaro (2026), Electronics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0848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NASDAQ-100 stocks, 2015–2026, plus VIX, gold, Bitcoin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5603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 + Hidden Markov regimes; walk-forward; SHAP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760720" y="178308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Model's reasoning changes by market phase: 200-day average in bear markets, yield curve and beta in bull markets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9235440" y="1783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9235440" y="20116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only, one stock (AMD), no significance test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383280"/>
            <a:ext cx="10908792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D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3950208"/>
            <a:ext cx="402336" cy="402336"/>
          </a:xfrm>
          <a:prstGeom prst="ellipse">
            <a:avLst/>
          </a:prstGeom>
          <a:solidFill>
            <a:srgbClr val="E8703A"/>
          </a:solidFill>
          <a:ln w="12700">
            <a:solidFill>
              <a:srgbClr val="E8703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3950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417320" y="35478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Song et al. (2026), Electronics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9136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stocks (CSI 300 + S&amp;P 500), 2016–2023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43891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1,600 runs: 16 setups × 20 stocks × 5 random seeds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760720" y="361188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features from different random seeds shared almost nothing (overlap 0.046) — the explanations were noise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235440" y="36118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235440" y="3840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weights in neural nets, not SHAP or LIME on trees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GAP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has been tested, and what has not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3840480" y="157276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DONE BY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406640" y="157276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UNTESTED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865376"/>
            <a:ext cx="11183112" cy="548640"/>
          </a:xfrm>
          <a:prstGeom prst="rect">
            <a:avLst/>
          </a:prstGeom>
          <a:solidFill>
            <a:srgbClr val="F4F7FC"/>
          </a:solidFill>
          <a:ln w="12700">
            <a:solidFill>
              <a:srgbClr val="F4F7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938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explainers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3840480" y="19385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2 (SHAP vs permutation)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406640" y="193852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vs LIME on the same forecasts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54203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Stability of explanations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840480" y="254203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2, Paper 5 (attention only)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7406640" y="254203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Seeds &amp; retraining for SHAP on trees; LIME run-to-run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02920" y="3072384"/>
            <a:ext cx="11183112" cy="548640"/>
          </a:xfrm>
          <a:prstGeom prst="rect">
            <a:avLst/>
          </a:prstGeom>
          <a:solidFill>
            <a:srgbClr val="F4F7FC"/>
          </a:solidFill>
          <a:ln w="12700">
            <a:solidFill>
              <a:srgbClr val="F4F7F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4553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by market phase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3840480" y="3145536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4 (descriptive, 1 stock)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7406640" y="3145536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testing of the difference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7490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374904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7406640" y="37490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open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02920" y="4279392"/>
            <a:ext cx="11183112" cy="548640"/>
          </a:xfrm>
          <a:prstGeom prst="rect">
            <a:avLst/>
          </a:prstGeom>
          <a:solidFill>
            <a:srgbClr val="F4F7FC"/>
          </a:solidFill>
          <a:ln w="12700">
            <a:solidFill>
              <a:srgbClr val="F4F7F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35254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No-signal control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3840480" y="435254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7406640" y="4352544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open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40080" y="5074920"/>
            <a:ext cx="10908792" cy="960120"/>
          </a:xfrm>
          <a:prstGeom prst="roundRect">
            <a:avLst>
              <a:gd name="adj" fmla="val 7619"/>
            </a:avLst>
          </a:prstGeom>
          <a:solidFill>
            <a:srgbClr val="16203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D">
                <a:alpha val="2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60120" y="5257800"/>
            <a:ext cx="102687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by searching all five PDFs:  </a:t>
            </a:r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“faithful”, “deletion” and “sanity” appear 0 times. No paper uses a shuffled-label control. LIME appears in one paper only, never compared with its own SHAP results.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20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023360"/>
            <a:ext cx="4206240" cy="42062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731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18872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Given daily price and volume data for 474 S&amp;P 500 stocks, build a Random Forest that forecasts each stock's next-day closing price, measure its accuracy against a naive “tomorrow = today” benchmark, and determine whether its SHAP and LIME explanations can be trusted.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640080" y="3246120"/>
            <a:ext cx="3291840" cy="1188720"/>
          </a:xfrm>
          <a:prstGeom prst="roundRect">
            <a:avLst>
              <a:gd name="adj" fmla="val 6154"/>
            </a:avLst>
          </a:prstGeom>
          <a:solidFill>
            <a:srgbClr val="232F63"/>
          </a:solidFill>
          <a:ln w="12700">
            <a:solidFill>
              <a:srgbClr val="35437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3383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Faithful?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2160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 features it ranks highest really drive the prediction?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51960" y="3246120"/>
            <a:ext cx="3291840" cy="1188720"/>
          </a:xfrm>
          <a:prstGeom prst="roundRect">
            <a:avLst>
              <a:gd name="adj" fmla="val 6154"/>
            </a:avLst>
          </a:prstGeom>
          <a:solidFill>
            <a:srgbClr val="232F63"/>
          </a:solidFill>
          <a:ln w="12700">
            <a:solidFill>
              <a:srgbClr val="35437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3383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Stable?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372160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explanation after retraining, a new seed, or re-running LIME?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863840" y="3246120"/>
            <a:ext cx="3291840" cy="1188720"/>
          </a:xfrm>
          <a:prstGeom prst="roundRect">
            <a:avLst>
              <a:gd name="adj" fmla="val 6154"/>
            </a:avLst>
          </a:prstGeom>
          <a:solidFill>
            <a:srgbClr val="232F63"/>
          </a:solidFill>
          <a:ln w="12700">
            <a:solidFill>
              <a:srgbClr val="35437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92440" y="33832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Agreed?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092440" y="372160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SHAP and LIME say the same thing about one forecast?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663440"/>
            <a:ext cx="3291840" cy="1188720"/>
          </a:xfrm>
          <a:prstGeom prst="roundRect">
            <a:avLst>
              <a:gd name="adj" fmla="val 6154"/>
            </a:avLst>
          </a:prstGeom>
          <a:solidFill>
            <a:srgbClr val="232F63"/>
          </a:solidFill>
          <a:ln w="12700">
            <a:solidFill>
              <a:srgbClr val="35437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68680" y="48006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Meaningful?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513892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from a model trained on scrambled labels?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251960" y="4663440"/>
            <a:ext cx="3291840" cy="1188720"/>
          </a:xfrm>
          <a:prstGeom prst="roundRect">
            <a:avLst>
              <a:gd name="adj" fmla="val 6154"/>
            </a:avLst>
          </a:prstGeom>
          <a:solidFill>
            <a:srgbClr val="232F63"/>
          </a:solidFill>
          <a:ln w="12700">
            <a:solidFill>
              <a:srgbClr val="35437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480560" y="48006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Consistent?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480560" y="5138928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explanations change across crashes and sectors?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PROJECT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Design: one model, 474 stocks, 10 years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45920"/>
          <a:ext cx="60350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040880" y="1645920"/>
            <a:ext cx="4526280" cy="3566160"/>
          </a:xfrm>
          <a:prstGeom prst="roundRect">
            <a:avLst>
              <a:gd name="adj" fmla="val 2051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D">
                <a:alpha val="25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60920" y="1828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315200" y="2286000"/>
            <a:ext cx="4069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474 S&amp;P 500 stocks, 11 sectors, 2012–2022</a:t>
            </a:r>
            <a:endParaRPr lang="en-US" sz="13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million stock-days; 405,545 test forecasts</a:t>
            </a:r>
            <a:endParaRPr lang="en-US" sz="13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Forest, 300 trees, 32 technical features</a:t>
            </a:r>
            <a:endParaRPr lang="en-US" sz="13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Retrained every January, tested on the next year</a:t>
            </a:r>
            <a:endParaRPr lang="en-US" sz="1350" dirty="0"/>
          </a:p>
          <a:p>
            <a:pPr marL="342900" indent="-342900">
              <a:lnSpc>
                <a:spcPts val="18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38,183 forecasts explained with SHAP; LIME run 5× each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reviewed paper used between 1 and 51 stocks.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CENTRAL NEW TEST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Faithfulness: delete what the explanation calls important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91640"/>
          <a:ext cx="64922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498080" y="17830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works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7498080" y="2240280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498080" y="2240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028432" y="222199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SHAP which features drove one forecast.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498080" y="2898648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98080" y="28986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028432" y="2880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top one with a value from a random training day.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498080" y="3557016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49808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8028432" y="35387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the model: how far did the forecast move?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498080" y="4215384"/>
            <a:ext cx="402336" cy="402336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498080" y="42153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028432" y="4197096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in random order as a control, over 2,000 stock-days.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498080" y="4937760"/>
            <a:ext cx="4069080" cy="777240"/>
          </a:xfrm>
          <a:prstGeom prst="roundRect">
            <a:avLst>
              <a:gd name="adj" fmla="val 9412"/>
            </a:avLst>
          </a:prstGeom>
          <a:solidFill>
            <a:srgbClr val="F4F7FC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D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726680" y="510235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7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13×</a:t>
            </a:r>
            <a:pPr indent="0" marL="0">
              <a:buNone/>
            </a:pPr>
            <a:r>
              <a:rPr lang="en-US" sz="13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more movement than deleting random features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908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audit found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4290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D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8105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0574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98.44%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60604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accuracy — but identical to the naive forecast (p = 0.30)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0" y="1645920"/>
            <a:ext cx="34290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D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72000" y="18105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0574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7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13×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60604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top-SHAP features move forecasts 13× more than random ones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0" y="1645920"/>
            <a:ext cx="34290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D">
                <a:alpha val="2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0" y="18105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20574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 0.85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260604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agrees across random seeds; LIME only ρ 0.48 between runs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520440"/>
            <a:ext cx="34290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D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14400" y="36850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39319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7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 0.03</a:t>
            </a:r>
            <a:endParaRPr lang="en-US" sz="28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44805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vs accuracy-based importance: only 4 of 32 features help accuracy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297680" y="3520440"/>
            <a:ext cx="34290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D">
                <a:alpha val="2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572000" y="36850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MEANINGFUL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39319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 0.13</a:t>
            </a:r>
            <a:endParaRPr lang="en-US" sz="28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44805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explanations differ sharply from a no-signal model — they pass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955280" y="3520440"/>
            <a:ext cx="342900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12700" dir="5400000">
              <a:srgbClr val="9AA7BD">
                <a:alpha val="2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229600" y="36850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39319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7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0.003</a:t>
            </a:r>
            <a:endParaRPr lang="en-US" sz="28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448056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2632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explanations change significantly across market regimes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4864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explanations are faithful and stable — but they describe what the model does, not what predicts the market.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0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3566160"/>
            <a:ext cx="4572000" cy="45720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822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7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344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validation protocol, not a new XAI method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402336" cy="402336"/>
          </a:xfrm>
          <a:prstGeom prst="ellipse">
            <a:avLst/>
          </a:prstGeom>
          <a:solidFill>
            <a:srgbClr val="E8703A"/>
          </a:solidFill>
          <a:ln w="12700">
            <a:solidFill>
              <a:srgbClr val="E8703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331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231343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Benchmarked accuracy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31343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reported next to naive persistence, with a significance test.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200400"/>
            <a:ext cx="402336" cy="402336"/>
          </a:xfrm>
          <a:prstGeom prst="ellipse">
            <a:avLst/>
          </a:prstGeom>
          <a:solidFill>
            <a:srgbClr val="E8703A"/>
          </a:solidFill>
          <a:ln w="12700">
            <a:solidFill>
              <a:srgbClr val="E870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200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18211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tests nobody runs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318211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 (deletion) and a no-signal control model.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4069080"/>
            <a:ext cx="402336" cy="402336"/>
          </a:xfrm>
          <a:prstGeom prst="ellipse">
            <a:avLst/>
          </a:prstGeom>
          <a:solidFill>
            <a:srgbClr val="E8703A"/>
          </a:solidFill>
          <a:ln w="12700">
            <a:solidFill>
              <a:srgbClr val="E870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4069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405079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SHAP vs LIME comparison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405079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same 804 forecasts, five runs each.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40080" y="4937760"/>
            <a:ext cx="402336" cy="402336"/>
          </a:xfrm>
          <a:prstGeom prst="ellipse">
            <a:avLst/>
          </a:prstGeom>
          <a:solidFill>
            <a:srgbClr val="E8703A"/>
          </a:solidFill>
          <a:ln w="12700">
            <a:solidFill>
              <a:srgbClr val="E8703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0080" y="4937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9194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Drift tested, not described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120640" y="4919472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Permutation tests across 4 market regimes and 11 sectors.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60350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FB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474 S&amp;P 500 stocks · daily price and volume only · 2012–2022 · code and data reproducible end to end.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Trustworthy Explanations for Random-Forest Stock Price Forecasting</dc:title>
  <dc:subject>PptxGenJS Presentation</dc:subject>
  <dc:creator>StockRF-XAI</dc:creator>
  <cp:lastModifiedBy>StockRF-XAI</cp:lastModifiedBy>
  <cp:revision>1</cp:revision>
  <dcterms:created xsi:type="dcterms:W3CDTF">2026-09-16T10:22:48Z</dcterms:created>
  <dcterms:modified xsi:type="dcterms:W3CDTF">2026-09-16T10:22:48Z</dcterms:modified>
</cp:coreProperties>
</file>