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First: does the forecast have any skill, measured honestly. Second, and the real contribution: can the SHAP and LIME explanations of that forecast be trusted. The answer to the first is barely, and the answer to the second is a qualified yes for SHAP and a qualified no for LIME - and we can prove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The audience needs to accept that both problems are real before any result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which RQ matters most: RQ5, because it is the only one that can expose an explainer as describing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15-ticker fix is worth mentioning if anyone asks how carefully the data was handled. The code tests both adjustment conventions per ticker and keeps whichever puts the close inside the day's range more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feature accidentally contained tomorrow's information the model would look brilliant and be worthless. That is why features are built on wide date-by-ticker tables with explicit shifts, never on per-row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matters if someone suspects the demo is a friendlier version of the model. It literally calls the study's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Hyperparameters come from 2017 and 2018 only. The test period is never touched during selection, which is what makes the RQ1 numbers quotable.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contribution. It is not a criticism of one paper, it is a measurement artefact that a lot of the literature shares. Our own model is subject to it too, which is why we report return space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project's value is the audit, not the forecast. If a reviewer pushes, point out that 405,545 out-of-sample forecasts with a proper DM test is a stronger negative result than most positive results in this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regimes were fixed from public market history before any explanation was computed - the S&amp;P peaked 19 Feb 2020 and bottomed 23 Mar 2020 - so they cannot be accused of being chosen after seeing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they should trade it: no, and this slide is the reason. The point of including costs is that a Sharpe of 0.83 sounds investable until you subtract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links straight back to RQ1. A model that has learned the market factor will have a tiny IC, because IC measures cross-sectional ranking and the market factor is identical for every stock on a given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Fidelity correlation is the stronger result: the amount of SHAP mass removed predicts the actual change in the forecast with correlation 0.98 at one feature, rising to 1.00 at all 32. That is not a ranking check, it is a quantitative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Song et al. (2026) found top-feature overlap of 0.046 across seeds for attention weights. Ours is 0.92 for TreeSHAP on a forest, which is the comparison to make if asked whether this 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be proudest of. Two nulls, not one, and the second null is the informative one. It independently confirms the 72.2% market-and-sector finding from RQ2 by a completely different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shuffle by whole day rather than by row: returns on the same day are strongly correlated across stocks, so a row-level shuffle would produce a far too narrow null and almost any difference would look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surrogate R2 is the strongest argument for preferring SHAP here: two thirds of LIME's explanations are built on a local linear model that explains less than 30% of the behaviour it is approximating. TreeSHAP has no such approximation - it is exact and additive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docstring in src/lime_explain.py cites the exact line numbers in lime_tabular.py. If asked whether this is a known issue: the behaviour is documented nowhere obvious, and the usage pattern that triggers it is the natural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LIME: it is model-agnostic, which is exactly why it exists, and on this model it still passes faithfulness. The recommendation is specific to tree models, where TreeSHAP is available and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live mode first - this is tomorrow, nobody knows the answer. Point at the volatility band: the model predicts a 4 bp move on a stock that normally moves 87, which is the honest response to an unpredictable target. Then the waterfall, then the disagreement card, then switch to a past day to show how any of it was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slides 8, 15 and 18 carry the project: the accuracy artefact, the within-day sanity null, and the LIME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slide ready rather than being walked into it. The strongest version of the answer is that the contribution is the method, and the method survives every limitation on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to say out loud: every explainability paper reports what SHAP said. This one reports whether SHAP could be believed, and on one of five tests the answer was not a clean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3F"/>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1E2761"/>
          </a:solidFill>
          <a:ln w="12700">
            <a:solidFill>
              <a:srgbClr val="1E2761"/>
            </a:solidFill>
            <a:prstDash val="solid"/>
          </a:ln>
        </p:spPr>
      </p:sp>
      <p:sp>
        <p:nvSpPr>
          <p:cNvPr id="3" name="Shape 1"/>
          <p:cNvSpPr/>
          <p:nvPr/>
        </p:nvSpPr>
        <p:spPr>
          <a:xfrm>
            <a:off x="10607040" y="4206240"/>
            <a:ext cx="2743200" cy="2743200"/>
          </a:xfrm>
          <a:prstGeom prst="ellipse">
            <a:avLst/>
          </a:prstGeom>
          <a:solidFill>
            <a:srgbClr val="232F63"/>
          </a:solidFill>
          <a:ln w="12700">
            <a:solidFill>
              <a:srgbClr val="232F63"/>
            </a:solidFill>
            <a:prstDash val="solid"/>
          </a:ln>
        </p:spPr>
      </p:sp>
      <p:sp>
        <p:nvSpPr>
          <p:cNvPr id="4" name="Text 2"/>
          <p:cNvSpPr txBox="1"/>
          <p:nvPr/>
        </p:nvSpPr>
        <p:spPr>
          <a:xfrm>
            <a:off x="640080" y="1234440"/>
            <a:ext cx="8595360" cy="320040"/>
          </a:xfrm>
          <a:prstGeom prst="rect">
            <a:avLst/>
          </a:prstGeom>
          <a:noFill/>
          <a:ln/>
        </p:spPr>
        <p:txBody>
          <a:bodyPr wrap="square" lIns="0" tIns="0" rIns="0" bIns="0" rtlCol="0" anchor="ctr"/>
          <a:lstStyle/>
          <a:p>
            <a:pPr indent="0" marL="0">
              <a:buNone/>
            </a:pPr>
            <a:r>
              <a:rPr lang="en-US" sz="1300" b="1" spc="200" kern="0" dirty="0">
                <a:solidFill>
                  <a:srgbClr val="E8703A"/>
                </a:solidFill>
                <a:latin typeface="Calibri" pitchFamily="34" charset="0"/>
                <a:ea typeface="Calibri" pitchFamily="34" charset="-122"/>
                <a:cs typeface="Calibri" pitchFamily="34" charset="-120"/>
              </a:rPr>
              <a:t>FINAL PROJECT REVIEW</a:t>
            </a:r>
            <a:endParaRPr lang="en-US" sz="1300" dirty="0"/>
          </a:p>
        </p:txBody>
      </p:sp>
      <p:sp>
        <p:nvSpPr>
          <p:cNvPr id="5" name="Text 3"/>
          <p:cNvSpPr txBox="1"/>
          <p:nvPr/>
        </p:nvSpPr>
        <p:spPr>
          <a:xfrm>
            <a:off x="640080" y="1645920"/>
            <a:ext cx="8595360" cy="173736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Trustworthy Explanations for</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Random-Forest Stock Price Forecasting</a:t>
            </a:r>
            <a:endParaRPr lang="en-US" sz="3800" dirty="0"/>
          </a:p>
        </p:txBody>
      </p:sp>
      <p:sp>
        <p:nvSpPr>
          <p:cNvPr id="6" name="Text 4"/>
          <p:cNvSpPr txBox="1"/>
          <p:nvPr/>
        </p:nvSpPr>
        <p:spPr>
          <a:xfrm>
            <a:off x="640080" y="3429000"/>
            <a:ext cx="8595360" cy="45720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A SHAP and LIME reliability audit on 474 S&amp;P 500 stocks</a:t>
            </a:r>
            <a:endParaRPr lang="en-US" sz="1700" dirty="0"/>
          </a:p>
        </p:txBody>
      </p:sp>
      <p:sp>
        <p:nvSpPr>
          <p:cNvPr id="7" name="Text 5"/>
          <p:cNvSpPr txBox="1"/>
          <p:nvPr/>
        </p:nvSpPr>
        <p:spPr>
          <a:xfrm>
            <a:off x="640080" y="4434840"/>
            <a:ext cx="2651760" cy="502920"/>
          </a:xfrm>
          <a:prstGeom prst="rect">
            <a:avLst/>
          </a:prstGeom>
          <a:noFill/>
          <a:ln/>
        </p:spPr>
        <p:txBody>
          <a:bodyPr wrap="square" lIns="0" tIns="0" rIns="0" bIns="0" rtlCol="0" anchor="ctr"/>
          <a:lstStyle/>
          <a:p>
            <a:pPr indent="0" marL="0">
              <a:buNone/>
            </a:pPr>
            <a:r>
              <a:rPr lang="en-US" sz="2600" b="1" dirty="0">
                <a:solidFill>
                  <a:srgbClr val="E8703A"/>
                </a:solidFill>
                <a:latin typeface="Cambria" pitchFamily="34" charset="0"/>
                <a:ea typeface="Cambria" pitchFamily="34" charset="-122"/>
                <a:cs typeface="Cambria" pitchFamily="34" charset="-120"/>
              </a:rPr>
              <a:t>1,097,165</a:t>
            </a:r>
            <a:endParaRPr lang="en-US" sz="2600" dirty="0"/>
          </a:p>
        </p:txBody>
      </p:sp>
      <p:sp>
        <p:nvSpPr>
          <p:cNvPr id="8" name="Text 6"/>
          <p:cNvSpPr txBox="1"/>
          <p:nvPr/>
        </p:nvSpPr>
        <p:spPr>
          <a:xfrm>
            <a:off x="640080" y="4937760"/>
            <a:ext cx="265176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stock-days</a:t>
            </a:r>
            <a:endParaRPr lang="en-US" sz="1300" dirty="0"/>
          </a:p>
        </p:txBody>
      </p:sp>
      <p:sp>
        <p:nvSpPr>
          <p:cNvPr id="9" name="Text 7"/>
          <p:cNvSpPr txBox="1"/>
          <p:nvPr/>
        </p:nvSpPr>
        <p:spPr>
          <a:xfrm>
            <a:off x="3383280" y="4434840"/>
            <a:ext cx="2651760" cy="502920"/>
          </a:xfrm>
          <a:prstGeom prst="rect">
            <a:avLst/>
          </a:prstGeom>
          <a:noFill/>
          <a:ln/>
        </p:spPr>
        <p:txBody>
          <a:bodyPr wrap="square" lIns="0" tIns="0" rIns="0" bIns="0" rtlCol="0" anchor="ctr"/>
          <a:lstStyle/>
          <a:p>
            <a:pPr indent="0" marL="0">
              <a:buNone/>
            </a:pPr>
            <a:r>
              <a:rPr lang="en-US" sz="2600" b="1" dirty="0">
                <a:solidFill>
                  <a:srgbClr val="E8703A"/>
                </a:solidFill>
                <a:latin typeface="Cambria" pitchFamily="34" charset="0"/>
                <a:ea typeface="Cambria" pitchFamily="34" charset="-122"/>
                <a:cs typeface="Cambria" pitchFamily="34" charset="-120"/>
              </a:rPr>
              <a:t>405,545</a:t>
            </a:r>
            <a:endParaRPr lang="en-US" sz="2600" dirty="0"/>
          </a:p>
        </p:txBody>
      </p:sp>
      <p:sp>
        <p:nvSpPr>
          <p:cNvPr id="10" name="Text 8"/>
          <p:cNvSpPr txBox="1"/>
          <p:nvPr/>
        </p:nvSpPr>
        <p:spPr>
          <a:xfrm>
            <a:off x="3383280" y="4937760"/>
            <a:ext cx="265176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graded forecasts</a:t>
            </a:r>
            <a:endParaRPr lang="en-US" sz="1300" dirty="0"/>
          </a:p>
        </p:txBody>
      </p:sp>
      <p:sp>
        <p:nvSpPr>
          <p:cNvPr id="11" name="Text 9"/>
          <p:cNvSpPr txBox="1"/>
          <p:nvPr/>
        </p:nvSpPr>
        <p:spPr>
          <a:xfrm>
            <a:off x="6126480" y="4434840"/>
            <a:ext cx="2651760" cy="502920"/>
          </a:xfrm>
          <a:prstGeom prst="rect">
            <a:avLst/>
          </a:prstGeom>
          <a:noFill/>
          <a:ln/>
        </p:spPr>
        <p:txBody>
          <a:bodyPr wrap="square" lIns="0" tIns="0" rIns="0" bIns="0" rtlCol="0" anchor="ctr"/>
          <a:lstStyle/>
          <a:p>
            <a:pPr indent="0" marL="0">
              <a:buNone/>
            </a:pPr>
            <a:r>
              <a:rPr lang="en-US" sz="2600" b="1" dirty="0">
                <a:solidFill>
                  <a:srgbClr val="E8703A"/>
                </a:solidFill>
                <a:latin typeface="Cambria" pitchFamily="34" charset="0"/>
                <a:ea typeface="Cambria" pitchFamily="34" charset="-122"/>
                <a:cs typeface="Cambria" pitchFamily="34" charset="-120"/>
              </a:rPr>
              <a:t>32</a:t>
            </a:r>
            <a:endParaRPr lang="en-US" sz="2600" dirty="0"/>
          </a:p>
        </p:txBody>
      </p:sp>
      <p:sp>
        <p:nvSpPr>
          <p:cNvPr id="12" name="Text 10"/>
          <p:cNvSpPr txBox="1"/>
          <p:nvPr/>
        </p:nvSpPr>
        <p:spPr>
          <a:xfrm>
            <a:off x="6126480" y="4937760"/>
            <a:ext cx="265176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features</a:t>
            </a:r>
            <a:endParaRPr lang="en-US" sz="1300" dirty="0"/>
          </a:p>
        </p:txBody>
      </p:sp>
      <p:sp>
        <p:nvSpPr>
          <p:cNvPr id="13" name="Text 11"/>
          <p:cNvSpPr txBox="1"/>
          <p:nvPr/>
        </p:nvSpPr>
        <p:spPr>
          <a:xfrm>
            <a:off x="8869680" y="4434840"/>
            <a:ext cx="2651760" cy="502920"/>
          </a:xfrm>
          <a:prstGeom prst="rect">
            <a:avLst/>
          </a:prstGeom>
          <a:noFill/>
          <a:ln/>
        </p:spPr>
        <p:txBody>
          <a:bodyPr wrap="square" lIns="0" tIns="0" rIns="0" bIns="0" rtlCol="0" anchor="ctr"/>
          <a:lstStyle/>
          <a:p>
            <a:pPr indent="0" marL="0">
              <a:buNone/>
            </a:pPr>
            <a:r>
              <a:rPr lang="en-US" sz="2600" b="1" dirty="0">
                <a:solidFill>
                  <a:srgbClr val="E8703A"/>
                </a:solidFill>
                <a:latin typeface="Cambria" pitchFamily="34" charset="0"/>
                <a:ea typeface="Cambria" pitchFamily="34" charset="-122"/>
                <a:cs typeface="Cambria" pitchFamily="34" charset="-120"/>
              </a:rPr>
              <a:t>2</a:t>
            </a:r>
            <a:endParaRPr lang="en-US" sz="2600" dirty="0"/>
          </a:p>
        </p:txBody>
      </p:sp>
      <p:sp>
        <p:nvSpPr>
          <p:cNvPr id="14" name="Text 12"/>
          <p:cNvSpPr txBox="1"/>
          <p:nvPr/>
        </p:nvSpPr>
        <p:spPr>
          <a:xfrm>
            <a:off x="8869680" y="4937760"/>
            <a:ext cx="265176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explainers, 5 audits</a:t>
            </a:r>
            <a:endParaRPr lang="en-US" sz="1300" dirty="0"/>
          </a:p>
        </p:txBody>
      </p:sp>
      <p:sp>
        <p:nvSpPr>
          <p:cNvPr id="15" name="Text 13"/>
          <p:cNvSpPr txBox="1"/>
          <p:nvPr/>
        </p:nvSpPr>
        <p:spPr>
          <a:xfrm>
            <a:off x="640080" y="5760720"/>
            <a:ext cx="100584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Live demo: pick any stock, get tomorrow's forecast with both explanations audited in real time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problems this project attacks</a:t>
            </a:r>
            <a:endParaRPr lang="en-US" sz="3000" dirty="0"/>
          </a:p>
        </p:txBody>
      </p:sp>
      <p:sp>
        <p:nvSpPr>
          <p:cNvPr id="4" name="Shape 2"/>
          <p:cNvSpPr/>
          <p:nvPr/>
        </p:nvSpPr>
        <p:spPr>
          <a:xfrm>
            <a:off x="640080" y="1554480"/>
            <a:ext cx="5257800" cy="3291840"/>
          </a:xfrm>
          <a:prstGeom prst="roundRect">
            <a:avLst>
              <a:gd name="adj" fmla="val 2222"/>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5" name="Shape 3"/>
          <p:cNvSpPr/>
          <p:nvPr/>
        </p:nvSpPr>
        <p:spPr>
          <a:xfrm>
            <a:off x="960120" y="1828800"/>
            <a:ext cx="384048" cy="384048"/>
          </a:xfrm>
          <a:prstGeom prst="ellipse">
            <a:avLst/>
          </a:prstGeom>
          <a:solidFill>
            <a:srgbClr val="1E2761"/>
          </a:solidFill>
          <a:ln w="12700">
            <a:solidFill>
              <a:srgbClr val="1E2761"/>
            </a:solidFill>
            <a:prstDash val="solid"/>
          </a:ln>
        </p:spPr>
      </p:sp>
      <p:sp>
        <p:nvSpPr>
          <p:cNvPr id="6" name="Text 4"/>
          <p:cNvSpPr txBox="1"/>
          <p:nvPr/>
        </p:nvSpPr>
        <p:spPr>
          <a:xfrm>
            <a:off x="96012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81328" y="1810512"/>
            <a:ext cx="4206240" cy="6858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Accuracy reported without a benchmark</a:t>
            </a:r>
            <a:endParaRPr lang="en-US" sz="1700" dirty="0"/>
          </a:p>
        </p:txBody>
      </p:sp>
      <p:sp>
        <p:nvSpPr>
          <p:cNvPr id="8" name="Text 6"/>
          <p:cNvSpPr txBox="1"/>
          <p:nvPr/>
        </p:nvSpPr>
        <p:spPr>
          <a:xfrm>
            <a:off x="1005840" y="2651760"/>
            <a:ext cx="4572000" cy="21031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26324A"/>
                </a:solidFill>
                <a:latin typeface="Calibri" pitchFamily="34" charset="0"/>
                <a:ea typeface="Calibri" pitchFamily="34" charset="-122"/>
                <a:cs typeface="Calibri" pitchFamily="34" charset="-120"/>
              </a:rPr>
              <a:t>Published price models report R² of 0.88 to 0.99.</a:t>
            </a:r>
            <a:endParaRPr lang="en-US" sz="1400" dirty="0"/>
          </a:p>
          <a:p>
            <a:pPr marL="342900" indent="-342900">
              <a:lnSpc>
                <a:spcPts val="1900"/>
              </a:lnSpc>
              <a:spcAft>
                <a:spcPts val="800"/>
              </a:spcAft>
              <a:buSzPct val="100000"/>
              <a:buChar char="•"/>
            </a:pPr>
            <a:r>
              <a:rPr lang="en-US" sz="1400" dirty="0">
                <a:solidFill>
                  <a:srgbClr val="26324A"/>
                </a:solidFill>
                <a:latin typeface="Calibri" pitchFamily="34" charset="0"/>
                <a:ea typeface="Calibri" pitchFamily="34" charset="-122"/>
                <a:cs typeface="Calibri" pitchFamily="34" charset="-120"/>
              </a:rPr>
              <a:t>But “tomorrow = today” already scores R² 0.99938 on the same data.</a:t>
            </a:r>
            <a:endParaRPr lang="en-US" sz="1400" dirty="0"/>
          </a:p>
          <a:p>
            <a:pPr marL="342900" indent="-342900">
              <a:lnSpc>
                <a:spcPts val="1900"/>
              </a:lnSpc>
              <a:spcAft>
                <a:spcPts val="800"/>
              </a:spcAft>
              <a:buSzPct val="100000"/>
              <a:buChar char="•"/>
            </a:pPr>
            <a:r>
              <a:rPr lang="en-US" sz="1400" dirty="0">
                <a:solidFill>
                  <a:srgbClr val="26324A"/>
                </a:solidFill>
                <a:latin typeface="Calibri" pitchFamily="34" charset="0"/>
                <a:ea typeface="Calibri" pitchFamily="34" charset="-122"/>
                <a:cs typeface="Calibri" pitchFamily="34" charset="-120"/>
              </a:rPr>
              <a:t>With no naive baseline, a 98% accuracy claim carries no information.</a:t>
            </a:r>
            <a:endParaRPr lang="en-US" sz="1400" dirty="0"/>
          </a:p>
        </p:txBody>
      </p:sp>
      <p:sp>
        <p:nvSpPr>
          <p:cNvPr id="9" name="Shape 7"/>
          <p:cNvSpPr/>
          <p:nvPr/>
        </p:nvSpPr>
        <p:spPr>
          <a:xfrm>
            <a:off x="6263640" y="1554480"/>
            <a:ext cx="5257800" cy="3291840"/>
          </a:xfrm>
          <a:prstGeom prst="roundRect">
            <a:avLst>
              <a:gd name="adj" fmla="val 2222"/>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0" name="Shape 8"/>
          <p:cNvSpPr/>
          <p:nvPr/>
        </p:nvSpPr>
        <p:spPr>
          <a:xfrm>
            <a:off x="6583680" y="1828800"/>
            <a:ext cx="384048" cy="384048"/>
          </a:xfrm>
          <a:prstGeom prst="ellipse">
            <a:avLst/>
          </a:prstGeom>
          <a:solidFill>
            <a:srgbClr val="E8703A"/>
          </a:solidFill>
          <a:ln w="12700">
            <a:solidFill>
              <a:srgbClr val="E8703A"/>
            </a:solidFill>
            <a:prstDash val="solid"/>
          </a:ln>
        </p:spPr>
      </p:sp>
      <p:sp>
        <p:nvSpPr>
          <p:cNvPr id="11" name="Text 9"/>
          <p:cNvSpPr txBox="1"/>
          <p:nvPr/>
        </p:nvSpPr>
        <p:spPr>
          <a:xfrm>
            <a:off x="658368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7104888" y="1810512"/>
            <a:ext cx="4206240" cy="6858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Explanations presented, never tested</a:t>
            </a:r>
            <a:endParaRPr lang="en-US" sz="1700" dirty="0"/>
          </a:p>
        </p:txBody>
      </p:sp>
      <p:sp>
        <p:nvSpPr>
          <p:cNvPr id="13" name="Text 11"/>
          <p:cNvSpPr txBox="1"/>
          <p:nvPr/>
        </p:nvSpPr>
        <p:spPr>
          <a:xfrm>
            <a:off x="6629400" y="2651760"/>
            <a:ext cx="4572000" cy="21031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26324A"/>
                </a:solidFill>
                <a:latin typeface="Calibri" pitchFamily="34" charset="0"/>
                <a:ea typeface="Calibri" pitchFamily="34" charset="-122"/>
                <a:cs typeface="Calibri" pitchFamily="34" charset="-120"/>
              </a:rPr>
              <a:t>SHAP and LIME rankings get reported as market insight.</a:t>
            </a:r>
            <a:endParaRPr lang="en-US" sz="1400" dirty="0"/>
          </a:p>
          <a:p>
            <a:pPr marL="342900" indent="-342900">
              <a:lnSpc>
                <a:spcPts val="1900"/>
              </a:lnSpc>
              <a:spcAft>
                <a:spcPts val="800"/>
              </a:spcAft>
              <a:buSzPct val="100000"/>
              <a:buChar char="•"/>
            </a:pPr>
            <a:r>
              <a:rPr lang="en-US" sz="1400" dirty="0">
                <a:solidFill>
                  <a:srgbClr val="26324A"/>
                </a:solidFill>
                <a:latin typeface="Calibri" pitchFamily="34" charset="0"/>
                <a:ea typeface="Calibri" pitchFamily="34" charset="-122"/>
                <a:cs typeface="Calibri" pitchFamily="34" charset="-120"/>
              </a:rPr>
              <a:t>Nobody checks whether they are faithful, stable, or agree with each other.</a:t>
            </a:r>
            <a:endParaRPr lang="en-US" sz="1400" dirty="0"/>
          </a:p>
          <a:p>
            <a:pPr marL="342900" indent="-342900">
              <a:lnSpc>
                <a:spcPts val="1900"/>
              </a:lnSpc>
              <a:spcAft>
                <a:spcPts val="800"/>
              </a:spcAft>
              <a:buSzPct val="100000"/>
              <a:buChar char="•"/>
            </a:pPr>
            <a:r>
              <a:rPr lang="en-US" sz="1400" dirty="0">
                <a:solidFill>
                  <a:srgbClr val="26324A"/>
                </a:solidFill>
                <a:latin typeface="Calibri" pitchFamily="34" charset="0"/>
                <a:ea typeface="Calibri" pitchFamily="34" charset="-122"/>
                <a:cs typeface="Calibri" pitchFamily="34" charset="-120"/>
              </a:rPr>
              <a:t>An explanation can describe noise, or one random seed, and look convincing.</a:t>
            </a:r>
            <a:endParaRPr lang="en-US" sz="1400" dirty="0"/>
          </a:p>
        </p:txBody>
      </p:sp>
      <p:sp>
        <p:nvSpPr>
          <p:cNvPr id="14" name="Text 12"/>
          <p:cNvSpPr txBox="1"/>
          <p:nvPr/>
        </p:nvSpPr>
        <p:spPr>
          <a:xfrm>
            <a:off x="640080" y="5029200"/>
            <a:ext cx="10908792" cy="45720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In finance both failures cost money: a model with no skill that looks accurate, explained by a method nobody validated.</a:t>
            </a:r>
            <a:endParaRPr lang="en-US" sz="1500" dirty="0"/>
          </a:p>
        </p:txBody>
      </p:sp>
      <p:sp>
        <p:nvSpPr>
          <p:cNvPr id="15" name="Shape 13"/>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16" name="Text 14"/>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This project builds the forecast honestly, then spends most of its effort auditing the explanation of it.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OBJECTIVE</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One objective, six research questions</a:t>
            </a:r>
            <a:endParaRPr lang="en-US" sz="3000" dirty="0"/>
          </a:p>
        </p:txBody>
      </p:sp>
      <p:sp>
        <p:nvSpPr>
          <p:cNvPr id="4" name="Shape 2"/>
          <p:cNvSpPr/>
          <p:nvPr/>
        </p:nvSpPr>
        <p:spPr>
          <a:xfrm>
            <a:off x="640080" y="1508760"/>
            <a:ext cx="10908792"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12700" dir="5400000">
              <a:srgbClr val="9AA7BD">
                <a:alpha val="22000"/>
              </a:srgbClr>
            </a:outerShdw>
          </a:effectLst>
        </p:spPr>
      </p:sp>
      <p:sp>
        <p:nvSpPr>
          <p:cNvPr id="5" name="Text 3"/>
          <p:cNvSpPr txBox="1"/>
          <p:nvPr/>
        </p:nvSpPr>
        <p:spPr>
          <a:xfrm>
            <a:off x="914400" y="1508760"/>
            <a:ext cx="10360152" cy="914400"/>
          </a:xfrm>
          <a:prstGeom prst="rect">
            <a:avLst/>
          </a:prstGeom>
          <a:noFill/>
          <a:ln/>
        </p:spPr>
        <p:txBody>
          <a:bodyPr wrap="square" lIns="0" tIns="0" rIns="0" bIns="0" rtlCol="0" anchor="ctr"/>
          <a:lstStyle/>
          <a:p>
            <a:pPr indent="0" marL="0">
              <a:lnSpc>
                <a:spcPts val="2200"/>
              </a:lnSpc>
              <a:buNone/>
            </a:pPr>
            <a:r>
              <a:rPr lang="en-US" sz="1550" dirty="0">
                <a:solidFill>
                  <a:srgbClr val="FFFFFF"/>
                </a:solidFill>
                <a:latin typeface="Calibri" pitchFamily="34" charset="0"/>
                <a:ea typeface="Calibri" pitchFamily="34" charset="-122"/>
                <a:cs typeface="Calibri" pitchFamily="34" charset="-120"/>
              </a:rPr>
              <a:t>Build a leakage-free next-day return forecaster for 474 S&amp;P 500 stocks, then determine whether its SHAP and LIME explanations are faithful, stable and mutually consistent enough to be reported as findings.</a:t>
            </a:r>
            <a:endParaRPr lang="en-US" sz="1550" dirty="0"/>
          </a:p>
        </p:txBody>
      </p:sp>
      <p:sp>
        <p:nvSpPr>
          <p:cNvPr id="6" name="Shape 4"/>
          <p:cNvSpPr/>
          <p:nvPr/>
        </p:nvSpPr>
        <p:spPr>
          <a:xfrm>
            <a:off x="640080" y="2697480"/>
            <a:ext cx="5257800" cy="868680"/>
          </a:xfrm>
          <a:prstGeom prst="roundRect">
            <a:avLst>
              <a:gd name="adj" fmla="val 842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7" name="Text 5"/>
          <p:cNvSpPr txBox="1"/>
          <p:nvPr/>
        </p:nvSpPr>
        <p:spPr>
          <a:xfrm>
            <a:off x="868680" y="2770632"/>
            <a:ext cx="731520" cy="36576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RQ1</a:t>
            </a:r>
            <a:endParaRPr lang="en-US" sz="1500" dirty="0"/>
          </a:p>
        </p:txBody>
      </p:sp>
      <p:sp>
        <p:nvSpPr>
          <p:cNvPr id="8" name="Text 6"/>
          <p:cNvSpPr txBox="1"/>
          <p:nvPr/>
        </p:nvSpPr>
        <p:spPr>
          <a:xfrm>
            <a:off x="1600200" y="2770632"/>
            <a:ext cx="4114800" cy="731520"/>
          </a:xfrm>
          <a:prstGeom prst="rect">
            <a:avLst/>
          </a:prstGeom>
          <a:noFill/>
          <a:ln/>
        </p:spPr>
        <p:txBody>
          <a:bodyPr wrap="square" lIns="0" tIns="0" rIns="0" bIns="0" rtlCol="0" anchor="ctr"/>
          <a:lstStyle/>
          <a:p>
            <a:pPr indent="0" marL="0">
              <a:lnSpc>
                <a:spcPts val="1600"/>
              </a:lnSpc>
              <a:buNone/>
            </a:pPr>
            <a:r>
              <a:rPr lang="en-US" sz="1250" dirty="0">
                <a:solidFill>
                  <a:srgbClr val="26324A"/>
                </a:solidFill>
                <a:latin typeface="Calibri" pitchFamily="34" charset="0"/>
                <a:ea typeface="Calibri" pitchFamily="34" charset="-122"/>
                <a:cs typeface="Calibri" pitchFamily="34" charset="-120"/>
              </a:rPr>
              <a:t>Does the model have real forecast skill once it is scored in return space against proper baselines?</a:t>
            </a:r>
            <a:endParaRPr lang="en-US" sz="1250" dirty="0"/>
          </a:p>
        </p:txBody>
      </p:sp>
      <p:sp>
        <p:nvSpPr>
          <p:cNvPr id="9" name="Shape 7"/>
          <p:cNvSpPr/>
          <p:nvPr/>
        </p:nvSpPr>
        <p:spPr>
          <a:xfrm>
            <a:off x="6263640" y="2697480"/>
            <a:ext cx="5257800" cy="868680"/>
          </a:xfrm>
          <a:prstGeom prst="roundRect">
            <a:avLst>
              <a:gd name="adj" fmla="val 8421"/>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0" name="Text 8"/>
          <p:cNvSpPr txBox="1"/>
          <p:nvPr/>
        </p:nvSpPr>
        <p:spPr>
          <a:xfrm>
            <a:off x="6492240" y="2770632"/>
            <a:ext cx="731520" cy="36576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RQ2</a:t>
            </a:r>
            <a:endParaRPr lang="en-US" sz="1500" dirty="0"/>
          </a:p>
        </p:txBody>
      </p:sp>
      <p:sp>
        <p:nvSpPr>
          <p:cNvPr id="11" name="Text 9"/>
          <p:cNvSpPr txBox="1"/>
          <p:nvPr/>
        </p:nvSpPr>
        <p:spPr>
          <a:xfrm>
            <a:off x="7223760" y="2770632"/>
            <a:ext cx="4114800" cy="731520"/>
          </a:xfrm>
          <a:prstGeom prst="rect">
            <a:avLst/>
          </a:prstGeom>
          <a:noFill/>
          <a:ln/>
        </p:spPr>
        <p:txBody>
          <a:bodyPr wrap="square" lIns="0" tIns="0" rIns="0" bIns="0" rtlCol="0" anchor="ctr"/>
          <a:lstStyle/>
          <a:p>
            <a:pPr indent="0" marL="0">
              <a:lnSpc>
                <a:spcPts val="1600"/>
              </a:lnSpc>
              <a:buNone/>
            </a:pPr>
            <a:r>
              <a:rPr lang="en-US" sz="1250" dirty="0">
                <a:solidFill>
                  <a:srgbClr val="26324A"/>
                </a:solidFill>
                <a:latin typeface="Calibri" pitchFamily="34" charset="0"/>
                <a:ea typeface="Calibri" pitchFamily="34" charset="-122"/>
                <a:cs typeface="Calibri" pitchFamily="34" charset="-120"/>
              </a:rPr>
              <a:t>What does the model actually use, globally and on individual forecasts?</a:t>
            </a:r>
            <a:endParaRPr lang="en-US" sz="1250" dirty="0"/>
          </a:p>
        </p:txBody>
      </p:sp>
      <p:sp>
        <p:nvSpPr>
          <p:cNvPr id="12" name="Shape 10"/>
          <p:cNvSpPr/>
          <p:nvPr/>
        </p:nvSpPr>
        <p:spPr>
          <a:xfrm>
            <a:off x="640080" y="3685032"/>
            <a:ext cx="5257800" cy="868680"/>
          </a:xfrm>
          <a:prstGeom prst="roundRect">
            <a:avLst>
              <a:gd name="adj" fmla="val 842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3" name="Text 11"/>
          <p:cNvSpPr txBox="1"/>
          <p:nvPr/>
        </p:nvSpPr>
        <p:spPr>
          <a:xfrm>
            <a:off x="868680" y="3758184"/>
            <a:ext cx="731520" cy="36576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RQ3</a:t>
            </a:r>
            <a:endParaRPr lang="en-US" sz="1500" dirty="0"/>
          </a:p>
        </p:txBody>
      </p:sp>
      <p:sp>
        <p:nvSpPr>
          <p:cNvPr id="14" name="Text 12"/>
          <p:cNvSpPr txBox="1"/>
          <p:nvPr/>
        </p:nvSpPr>
        <p:spPr>
          <a:xfrm>
            <a:off x="1600200" y="3758184"/>
            <a:ext cx="4114800" cy="731520"/>
          </a:xfrm>
          <a:prstGeom prst="rect">
            <a:avLst/>
          </a:prstGeom>
          <a:noFill/>
          <a:ln/>
        </p:spPr>
        <p:txBody>
          <a:bodyPr wrap="square" lIns="0" tIns="0" rIns="0" bIns="0" rtlCol="0" anchor="ctr"/>
          <a:lstStyle/>
          <a:p>
            <a:pPr indent="0" marL="0">
              <a:lnSpc>
                <a:spcPts val="1600"/>
              </a:lnSpc>
              <a:buNone/>
            </a:pPr>
            <a:r>
              <a:rPr lang="en-US" sz="1250" dirty="0">
                <a:solidFill>
                  <a:srgbClr val="26324A"/>
                </a:solidFill>
                <a:latin typeface="Calibri" pitchFamily="34" charset="0"/>
                <a:ea typeface="Calibri" pitchFamily="34" charset="-122"/>
                <a:cs typeface="Calibri" pitchFamily="34" charset="-120"/>
              </a:rPr>
              <a:t>Are the SHAP explanations faithful to the model and stable across seeds and retrains?</a:t>
            </a:r>
            <a:endParaRPr lang="en-US" sz="1250" dirty="0"/>
          </a:p>
        </p:txBody>
      </p:sp>
      <p:sp>
        <p:nvSpPr>
          <p:cNvPr id="15" name="Shape 13"/>
          <p:cNvSpPr/>
          <p:nvPr/>
        </p:nvSpPr>
        <p:spPr>
          <a:xfrm>
            <a:off x="6263640" y="3685032"/>
            <a:ext cx="5257800" cy="868680"/>
          </a:xfrm>
          <a:prstGeom prst="roundRect">
            <a:avLst>
              <a:gd name="adj" fmla="val 8421"/>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6" name="Text 14"/>
          <p:cNvSpPr txBox="1"/>
          <p:nvPr/>
        </p:nvSpPr>
        <p:spPr>
          <a:xfrm>
            <a:off x="6492240" y="3758184"/>
            <a:ext cx="731520" cy="36576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RQ4</a:t>
            </a:r>
            <a:endParaRPr lang="en-US" sz="1500" dirty="0"/>
          </a:p>
        </p:txBody>
      </p:sp>
      <p:sp>
        <p:nvSpPr>
          <p:cNvPr id="17" name="Text 15"/>
          <p:cNvSpPr txBox="1"/>
          <p:nvPr/>
        </p:nvSpPr>
        <p:spPr>
          <a:xfrm>
            <a:off x="7223760" y="3758184"/>
            <a:ext cx="4114800" cy="731520"/>
          </a:xfrm>
          <a:prstGeom prst="rect">
            <a:avLst/>
          </a:prstGeom>
          <a:noFill/>
          <a:ln/>
        </p:spPr>
        <p:txBody>
          <a:bodyPr wrap="square" lIns="0" tIns="0" rIns="0" bIns="0" rtlCol="0" anchor="ctr"/>
          <a:lstStyle/>
          <a:p>
            <a:pPr indent="0" marL="0">
              <a:lnSpc>
                <a:spcPts val="1600"/>
              </a:lnSpc>
              <a:buNone/>
            </a:pPr>
            <a:r>
              <a:rPr lang="en-US" sz="1250" dirty="0">
                <a:solidFill>
                  <a:srgbClr val="26324A"/>
                </a:solidFill>
                <a:latin typeface="Calibri" pitchFamily="34" charset="0"/>
                <a:ea typeface="Calibri" pitchFamily="34" charset="-122"/>
                <a:cs typeface="Calibri" pitchFamily="34" charset="-120"/>
              </a:rPr>
              <a:t>Do the explanations drift across market regimes and GICS sectors?</a:t>
            </a:r>
            <a:endParaRPr lang="en-US" sz="1250" dirty="0"/>
          </a:p>
        </p:txBody>
      </p:sp>
      <p:sp>
        <p:nvSpPr>
          <p:cNvPr id="18" name="Shape 16"/>
          <p:cNvSpPr/>
          <p:nvPr/>
        </p:nvSpPr>
        <p:spPr>
          <a:xfrm>
            <a:off x="640080" y="4672584"/>
            <a:ext cx="5257800" cy="868680"/>
          </a:xfrm>
          <a:prstGeom prst="roundRect">
            <a:avLst>
              <a:gd name="adj" fmla="val 842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9" name="Text 17"/>
          <p:cNvSpPr txBox="1"/>
          <p:nvPr/>
        </p:nvSpPr>
        <p:spPr>
          <a:xfrm>
            <a:off x="868680" y="4745736"/>
            <a:ext cx="731520" cy="36576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RQ5</a:t>
            </a:r>
            <a:endParaRPr lang="en-US" sz="1500" dirty="0"/>
          </a:p>
        </p:txBody>
      </p:sp>
      <p:sp>
        <p:nvSpPr>
          <p:cNvPr id="20" name="Text 18"/>
          <p:cNvSpPr txBox="1"/>
          <p:nvPr/>
        </p:nvSpPr>
        <p:spPr>
          <a:xfrm>
            <a:off x="1600200" y="4745736"/>
            <a:ext cx="4114800" cy="731520"/>
          </a:xfrm>
          <a:prstGeom prst="rect">
            <a:avLst/>
          </a:prstGeom>
          <a:noFill/>
          <a:ln/>
        </p:spPr>
        <p:txBody>
          <a:bodyPr wrap="square" lIns="0" tIns="0" rIns="0" bIns="0" rtlCol="0" anchor="ctr"/>
          <a:lstStyle/>
          <a:p>
            <a:pPr indent="0" marL="0">
              <a:lnSpc>
                <a:spcPts val="1600"/>
              </a:lnSpc>
              <a:buNone/>
            </a:pPr>
            <a:r>
              <a:rPr lang="en-US" sz="1250" dirty="0">
                <a:solidFill>
                  <a:srgbClr val="26324A"/>
                </a:solidFill>
                <a:latin typeface="Calibri" pitchFamily="34" charset="0"/>
                <a:ea typeface="Calibri" pitchFamily="34" charset="-122"/>
                <a:cs typeface="Calibri" pitchFamily="34" charset="-120"/>
              </a:rPr>
              <a:t>Can the explainer be fooled by a model trained on shuffled labels?</a:t>
            </a:r>
            <a:endParaRPr lang="en-US" sz="1250" dirty="0"/>
          </a:p>
        </p:txBody>
      </p:sp>
      <p:sp>
        <p:nvSpPr>
          <p:cNvPr id="21" name="Shape 19"/>
          <p:cNvSpPr/>
          <p:nvPr/>
        </p:nvSpPr>
        <p:spPr>
          <a:xfrm>
            <a:off x="6263640" y="4672584"/>
            <a:ext cx="5257800" cy="868680"/>
          </a:xfrm>
          <a:prstGeom prst="roundRect">
            <a:avLst>
              <a:gd name="adj" fmla="val 8421"/>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2" name="Text 20"/>
          <p:cNvSpPr txBox="1"/>
          <p:nvPr/>
        </p:nvSpPr>
        <p:spPr>
          <a:xfrm>
            <a:off x="6492240" y="4745736"/>
            <a:ext cx="731520" cy="36576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RQ6</a:t>
            </a:r>
            <a:endParaRPr lang="en-US" sz="1500" dirty="0"/>
          </a:p>
        </p:txBody>
      </p:sp>
      <p:sp>
        <p:nvSpPr>
          <p:cNvPr id="23" name="Text 21"/>
          <p:cNvSpPr txBox="1"/>
          <p:nvPr/>
        </p:nvSpPr>
        <p:spPr>
          <a:xfrm>
            <a:off x="7223760" y="4745736"/>
            <a:ext cx="4114800" cy="731520"/>
          </a:xfrm>
          <a:prstGeom prst="rect">
            <a:avLst/>
          </a:prstGeom>
          <a:noFill/>
          <a:ln/>
        </p:spPr>
        <p:txBody>
          <a:bodyPr wrap="square" lIns="0" tIns="0" rIns="0" bIns="0" rtlCol="0" anchor="ctr"/>
          <a:lstStyle/>
          <a:p>
            <a:pPr indent="0" marL="0">
              <a:lnSpc>
                <a:spcPts val="1600"/>
              </a:lnSpc>
              <a:buNone/>
            </a:pPr>
            <a:r>
              <a:rPr lang="en-US" sz="1250" dirty="0">
                <a:solidFill>
                  <a:srgbClr val="26324A"/>
                </a:solidFill>
                <a:latin typeface="Calibri" pitchFamily="34" charset="0"/>
                <a:ea typeface="Calibri" pitchFamily="34" charset="-122"/>
                <a:cs typeface="Calibri" pitchFamily="34" charset="-120"/>
              </a:rPr>
              <a:t>Do SHAP and LIME agree, and which should be trusted here?</a:t>
            </a:r>
            <a:endParaRPr lang="en-US" sz="1250" dirty="0"/>
          </a:p>
        </p:txBody>
      </p:sp>
      <p:sp>
        <p:nvSpPr>
          <p:cNvPr id="24" name="Shape 22"/>
          <p:cNvSpPr/>
          <p:nvPr/>
        </p:nvSpPr>
        <p:spPr>
          <a:xfrm>
            <a:off x="640080" y="5742432"/>
            <a:ext cx="10908792" cy="658368"/>
          </a:xfrm>
          <a:prstGeom prst="roundRect">
            <a:avLst>
              <a:gd name="adj" fmla="val 8333"/>
            </a:avLst>
          </a:prstGeom>
          <a:solidFill>
            <a:srgbClr val="E8703A"/>
          </a:solidFill>
          <a:ln w="12700">
            <a:solidFill>
              <a:srgbClr val="E8703A"/>
            </a:solidFill>
            <a:prstDash val="solid"/>
          </a:ln>
        </p:spPr>
      </p:sp>
      <p:sp>
        <p:nvSpPr>
          <p:cNvPr id="25" name="Text 23"/>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RQ1 is the sanity floor. RQ2 to RQ6 are the project.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474 S&amp;P 500 stocks, ten years, cleaned</a:t>
            </a:r>
            <a:endParaRPr lang="en-US" sz="3000" dirty="0"/>
          </a:p>
        </p:txBody>
      </p:sp>
      <p:sp>
        <p:nvSpPr>
          <p:cNvPr id="4" name="Shape 2"/>
          <p:cNvSpPr/>
          <p:nvPr/>
        </p:nvSpPr>
        <p:spPr>
          <a:xfrm>
            <a:off x="640080" y="1508760"/>
            <a:ext cx="2606040" cy="1005840"/>
          </a:xfrm>
          <a:prstGeom prst="roundRect">
            <a:avLst>
              <a:gd name="adj" fmla="val 7273"/>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5" name="Text 3"/>
          <p:cNvSpPr txBox="1"/>
          <p:nvPr/>
        </p:nvSpPr>
        <p:spPr>
          <a:xfrm>
            <a:off x="822960" y="1627632"/>
            <a:ext cx="228600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474</a:t>
            </a:r>
            <a:endParaRPr lang="en-US" sz="2400" dirty="0"/>
          </a:p>
        </p:txBody>
      </p:sp>
      <p:sp>
        <p:nvSpPr>
          <p:cNvPr id="6" name="Text 4"/>
          <p:cNvSpPr txBox="1"/>
          <p:nvPr/>
        </p:nvSpPr>
        <p:spPr>
          <a:xfrm>
            <a:off x="822960" y="2084832"/>
            <a:ext cx="2286000" cy="320040"/>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stocks</a:t>
            </a:r>
            <a:endParaRPr lang="en-US" sz="1300" dirty="0"/>
          </a:p>
        </p:txBody>
      </p:sp>
      <p:sp>
        <p:nvSpPr>
          <p:cNvPr id="7" name="Shape 5"/>
          <p:cNvSpPr/>
          <p:nvPr/>
        </p:nvSpPr>
        <p:spPr>
          <a:xfrm>
            <a:off x="3447288" y="1508760"/>
            <a:ext cx="2606040" cy="1005840"/>
          </a:xfrm>
          <a:prstGeom prst="roundRect">
            <a:avLst>
              <a:gd name="adj" fmla="val 7273"/>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8" name="Text 6"/>
          <p:cNvSpPr txBox="1"/>
          <p:nvPr/>
        </p:nvSpPr>
        <p:spPr>
          <a:xfrm>
            <a:off x="3630168" y="1627632"/>
            <a:ext cx="228600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2,526</a:t>
            </a:r>
            <a:endParaRPr lang="en-US" sz="2400" dirty="0"/>
          </a:p>
        </p:txBody>
      </p:sp>
      <p:sp>
        <p:nvSpPr>
          <p:cNvPr id="9" name="Text 7"/>
          <p:cNvSpPr txBox="1"/>
          <p:nvPr/>
        </p:nvSpPr>
        <p:spPr>
          <a:xfrm>
            <a:off x="3630168" y="2084832"/>
            <a:ext cx="2286000" cy="320040"/>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trading days</a:t>
            </a:r>
            <a:endParaRPr lang="en-US" sz="1300" dirty="0"/>
          </a:p>
        </p:txBody>
      </p:sp>
      <p:sp>
        <p:nvSpPr>
          <p:cNvPr id="10" name="Shape 8"/>
          <p:cNvSpPr/>
          <p:nvPr/>
        </p:nvSpPr>
        <p:spPr>
          <a:xfrm>
            <a:off x="6254496" y="1508760"/>
            <a:ext cx="2606040" cy="1005840"/>
          </a:xfrm>
          <a:prstGeom prst="roundRect">
            <a:avLst>
              <a:gd name="adj" fmla="val 7273"/>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1" name="Text 9"/>
          <p:cNvSpPr txBox="1"/>
          <p:nvPr/>
        </p:nvSpPr>
        <p:spPr>
          <a:xfrm>
            <a:off x="6437376" y="1627632"/>
            <a:ext cx="228600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1,193,405</a:t>
            </a:r>
            <a:endParaRPr lang="en-US" sz="2400" dirty="0"/>
          </a:p>
        </p:txBody>
      </p:sp>
      <p:sp>
        <p:nvSpPr>
          <p:cNvPr id="12" name="Text 10"/>
          <p:cNvSpPr txBox="1"/>
          <p:nvPr/>
        </p:nvSpPr>
        <p:spPr>
          <a:xfrm>
            <a:off x="6437376" y="2084832"/>
            <a:ext cx="2286000" cy="320040"/>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stock-days</a:t>
            </a:r>
            <a:endParaRPr lang="en-US" sz="1300" dirty="0"/>
          </a:p>
        </p:txBody>
      </p:sp>
      <p:sp>
        <p:nvSpPr>
          <p:cNvPr id="13" name="Shape 11"/>
          <p:cNvSpPr/>
          <p:nvPr/>
        </p:nvSpPr>
        <p:spPr>
          <a:xfrm>
            <a:off x="9061704" y="1508760"/>
            <a:ext cx="2606040" cy="1005840"/>
          </a:xfrm>
          <a:prstGeom prst="roundRect">
            <a:avLst>
              <a:gd name="adj" fmla="val 7273"/>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4" name="Text 12"/>
          <p:cNvSpPr txBox="1"/>
          <p:nvPr/>
        </p:nvSpPr>
        <p:spPr>
          <a:xfrm>
            <a:off x="9244584" y="1627632"/>
            <a:ext cx="228600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11</a:t>
            </a:r>
            <a:endParaRPr lang="en-US" sz="2400" dirty="0"/>
          </a:p>
        </p:txBody>
      </p:sp>
      <p:sp>
        <p:nvSpPr>
          <p:cNvPr id="15" name="Text 13"/>
          <p:cNvSpPr txBox="1"/>
          <p:nvPr/>
        </p:nvSpPr>
        <p:spPr>
          <a:xfrm>
            <a:off x="9244584" y="2084832"/>
            <a:ext cx="2286000" cy="320040"/>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GICS sectors</a:t>
            </a:r>
            <a:endParaRPr lang="en-US" sz="1300" dirty="0"/>
          </a:p>
        </p:txBody>
      </p:sp>
      <p:sp>
        <p:nvSpPr>
          <p:cNvPr id="16" name="Shape 14"/>
          <p:cNvSpPr/>
          <p:nvPr/>
        </p:nvSpPr>
        <p:spPr>
          <a:xfrm>
            <a:off x="640080" y="2697480"/>
            <a:ext cx="5486400" cy="2834640"/>
          </a:xfrm>
          <a:prstGeom prst="roundRect">
            <a:avLst>
              <a:gd name="adj" fmla="val 258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7" name="Text 15"/>
          <p:cNvSpPr txBox="1"/>
          <p:nvPr/>
        </p:nvSpPr>
        <p:spPr>
          <a:xfrm>
            <a:off x="914400" y="2834640"/>
            <a:ext cx="493776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Source</a:t>
            </a:r>
            <a:endParaRPr lang="en-US" sz="1600" dirty="0"/>
          </a:p>
        </p:txBody>
      </p:sp>
      <p:sp>
        <p:nvSpPr>
          <p:cNvPr id="18" name="Text 16"/>
          <p:cNvSpPr txBox="1"/>
          <p:nvPr/>
        </p:nvSpPr>
        <p:spPr>
          <a:xfrm>
            <a:off x="914400" y="3200400"/>
            <a:ext cx="5029200" cy="219456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50" dirty="0">
                <a:solidFill>
                  <a:srgbClr val="26324A"/>
                </a:solidFill>
                <a:latin typeface="Calibri" pitchFamily="34" charset="0"/>
                <a:ea typeface="Calibri" pitchFamily="34" charset="-122"/>
                <a:cs typeface="Calibri" pitchFamily="34" charset="-120"/>
              </a:rPr>
              <a:t>Public S&amp;P 500 benchmark released with ESTIMATE (Huynh et al., WSDM 2023).</a:t>
            </a:r>
            <a:endParaRPr lang="en-US" sz="1350" dirty="0"/>
          </a:p>
          <a:p>
            <a:pPr marL="342900" indent="-342900">
              <a:lnSpc>
                <a:spcPts val="1900"/>
              </a:lnSpc>
              <a:spcAft>
                <a:spcPts val="800"/>
              </a:spcAft>
              <a:buSzPct val="100000"/>
              <a:buChar char="•"/>
            </a:pPr>
            <a:r>
              <a:rPr lang="en-US" sz="1350" dirty="0">
                <a:solidFill>
                  <a:srgbClr val="26324A"/>
                </a:solidFill>
                <a:latin typeface="Calibri" pitchFamily="34" charset="0"/>
                <a:ea typeface="Calibri" pitchFamily="34" charset="-122"/>
                <a:cs typeface="Calibri" pitchFamily="34" charset="-120"/>
              </a:rPr>
              <a:t>Daily open, high, low, close, adjusted close and volume, 14 May 2012 to 25 May 2022.</a:t>
            </a:r>
            <a:endParaRPr lang="en-US" sz="1350" dirty="0"/>
          </a:p>
          <a:p>
            <a:pPr marL="342900" indent="-342900">
              <a:lnSpc>
                <a:spcPts val="1900"/>
              </a:lnSpc>
              <a:spcAft>
                <a:spcPts val="800"/>
              </a:spcAft>
              <a:buSzPct val="100000"/>
              <a:buChar char="•"/>
            </a:pPr>
            <a:r>
              <a:rPr lang="en-US" sz="1350" dirty="0">
                <a:solidFill>
                  <a:srgbClr val="26324A"/>
                </a:solidFill>
                <a:latin typeface="Calibri" pitchFamily="34" charset="0"/>
                <a:ea typeface="Calibri" pitchFamily="34" charset="-122"/>
                <a:cs typeface="Calibri" pitchFamily="34" charset="-120"/>
              </a:rPr>
              <a:t>Each stock's GICS sector, used to group explanations.</a:t>
            </a:r>
            <a:endParaRPr lang="en-US" sz="1350" dirty="0"/>
          </a:p>
        </p:txBody>
      </p:sp>
      <p:sp>
        <p:nvSpPr>
          <p:cNvPr id="19" name="Shape 17"/>
          <p:cNvSpPr/>
          <p:nvPr/>
        </p:nvSpPr>
        <p:spPr>
          <a:xfrm>
            <a:off x="6400800" y="2697480"/>
            <a:ext cx="5486400" cy="2834640"/>
          </a:xfrm>
          <a:prstGeom prst="roundRect">
            <a:avLst>
              <a:gd name="adj" fmla="val 258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0" name="Text 18"/>
          <p:cNvSpPr txBox="1"/>
          <p:nvPr/>
        </p:nvSpPr>
        <p:spPr>
          <a:xfrm>
            <a:off x="6675120" y="2834640"/>
            <a:ext cx="4937760" cy="320040"/>
          </a:xfrm>
          <a:prstGeom prst="rect">
            <a:avLst/>
          </a:prstGeom>
          <a:noFill/>
          <a:ln/>
        </p:spPr>
        <p:txBody>
          <a:bodyPr wrap="square" lIns="0" tIns="0" rIns="0" bIns="0" rtlCol="0" anchor="ctr"/>
          <a:lstStyle/>
          <a:p>
            <a:pPr indent="0" marL="0">
              <a:buNone/>
            </a:pPr>
            <a:r>
              <a:rPr lang="en-US" sz="1600" b="1" dirty="0">
                <a:solidFill>
                  <a:srgbClr val="E8703A"/>
                </a:solidFill>
                <a:latin typeface="Cambria" pitchFamily="34" charset="0"/>
                <a:ea typeface="Cambria" pitchFamily="34" charset="-122"/>
                <a:cs typeface="Cambria" pitchFamily="34" charset="-120"/>
              </a:rPr>
              <a:t>Three real data bugs found and fixed</a:t>
            </a:r>
            <a:endParaRPr lang="en-US" sz="1600" dirty="0"/>
          </a:p>
        </p:txBody>
      </p:sp>
      <p:sp>
        <p:nvSpPr>
          <p:cNvPr id="21" name="Text 19"/>
          <p:cNvSpPr txBox="1"/>
          <p:nvPr/>
        </p:nvSpPr>
        <p:spPr>
          <a:xfrm>
            <a:off x="6675120" y="3200400"/>
            <a:ext cx="5029200" cy="219456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50" dirty="0">
                <a:solidFill>
                  <a:srgbClr val="26324A"/>
                </a:solidFill>
                <a:latin typeface="Calibri" pitchFamily="34" charset="0"/>
                <a:ea typeface="Calibri" pitchFamily="34" charset="-122"/>
                <a:cs typeface="Calibri" pitchFamily="34" charset="-120"/>
              </a:rPr>
              <a:t>Rows before a stock was listed have no adjusted close — dropped.</a:t>
            </a:r>
            <a:endParaRPr lang="en-US" sz="1350" dirty="0"/>
          </a:p>
          <a:p>
            <a:pPr marL="342900" indent="-342900">
              <a:lnSpc>
                <a:spcPts val="1900"/>
              </a:lnSpc>
              <a:spcAft>
                <a:spcPts val="800"/>
              </a:spcAft>
              <a:buSzPct val="100000"/>
              <a:buChar char="•"/>
            </a:pPr>
            <a:r>
              <a:rPr lang="en-US" sz="1350" dirty="0">
                <a:solidFill>
                  <a:srgbClr val="26324A"/>
                </a:solidFill>
                <a:latin typeface="Calibri" pitchFamily="34" charset="0"/>
                <a:ea typeface="Calibri" pitchFamily="34" charset="-122"/>
                <a:cs typeface="Calibri" pitchFamily="34" charset="-120"/>
              </a:rPr>
              <a:t>15 tickers store open/high/low adjusted but close unadjusted, so the day's high sits below its close — put on one basis.</a:t>
            </a:r>
            <a:endParaRPr lang="en-US" sz="1350" dirty="0"/>
          </a:p>
          <a:p>
            <a:pPr marL="342900" indent="-342900">
              <a:lnSpc>
                <a:spcPts val="1900"/>
              </a:lnSpc>
              <a:spcAft>
                <a:spcPts val="800"/>
              </a:spcAft>
              <a:buSzPct val="100000"/>
              <a:buChar char="•"/>
            </a:pPr>
            <a:r>
              <a:rPr lang="en-US" sz="1350" dirty="0">
                <a:solidFill>
                  <a:srgbClr val="26324A"/>
                </a:solidFill>
                <a:latin typeface="Calibri" pitchFamily="34" charset="0"/>
                <a:ea typeface="Calibri" pitchFamily="34" charset="-122"/>
                <a:cs typeface="Calibri" pitchFamily="34" charset="-120"/>
              </a:rPr>
              <a:t>GOOG before 27 Mar 2014 is a different share class, a −300% one-day jump — dropped.</a:t>
            </a:r>
            <a:endParaRPr lang="en-US" sz="1350" dirty="0"/>
          </a:p>
        </p:txBody>
      </p:sp>
      <p:sp>
        <p:nvSpPr>
          <p:cNvPr id="22" name="Shape 20"/>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23" name="Text 21"/>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Cleaning is reported, not hidden: every fix is a named assertion in src/data.py that reruns on every build.</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FEATURES</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32 features in 7 families, none of them peeking</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6949440" cy="914400"/>
        </p:xfrm>
        <a:graphic>
          <a:graphicData uri="http://schemas.openxmlformats.org/drawingml/2006/table">
            <a:tbl>
              <a:tblPr/>
              <a:tblGrid>
                <a:gridCol w="2194560"/>
                <a:gridCol w="548640"/>
                <a:gridCol w="42062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it measures</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Past returns</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6</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moves over 1, 2, 5, 10, 20, 60 days</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Trend</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distance from 5/20/50/200-day averages, MACD</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Oscillators</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RSI, stochastic, Bollinger %b</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Volatility</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6</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5/20/60-day volatility, ATR, range, band width</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Volume</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volume vs normal, volume trend, dollar volume</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Candle</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gap at the open, body, close within the range</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Market &amp; sector</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6</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market return and volatility, sector return, beta</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bl>
          </a:graphicData>
        </a:graphic>
      </p:graphicFrame>
      <p:sp>
        <p:nvSpPr>
          <p:cNvPr id="5" name="Shape 2"/>
          <p:cNvSpPr/>
          <p:nvPr/>
        </p:nvSpPr>
        <p:spPr>
          <a:xfrm>
            <a:off x="7863840" y="1508760"/>
            <a:ext cx="3703320" cy="4023360"/>
          </a:xfrm>
          <a:prstGeom prst="roundRect">
            <a:avLst>
              <a:gd name="adj" fmla="val 1975"/>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8138160" y="1664208"/>
            <a:ext cx="3200400" cy="548640"/>
          </a:xfrm>
          <a:prstGeom prst="rect">
            <a:avLst/>
          </a:prstGeom>
          <a:noFill/>
          <a:ln/>
        </p:spPr>
        <p:txBody>
          <a:bodyPr wrap="square" lIns="0" tIns="0" rIns="0" bIns="0" rtlCol="0" anchor="ctr"/>
          <a:lstStyle/>
          <a:p>
            <a:pPr indent="0" marL="0">
              <a:buNone/>
            </a:pPr>
            <a:r>
              <a:rPr lang="en-US" sz="1600" b="1" dirty="0">
                <a:solidFill>
                  <a:srgbClr val="E8703A"/>
                </a:solidFill>
                <a:latin typeface="Cambria" pitchFamily="34" charset="0"/>
                <a:ea typeface="Cambria" pitchFamily="34" charset="-122"/>
                <a:cs typeface="Cambria" pitchFamily="34" charset="-120"/>
              </a:rPr>
              <a:t>The rule that makes it valid</a:t>
            </a:r>
            <a:endParaRPr lang="en-US" sz="1600" dirty="0"/>
          </a:p>
        </p:txBody>
      </p:sp>
      <p:sp>
        <p:nvSpPr>
          <p:cNvPr id="7" name="Text 4"/>
          <p:cNvSpPr txBox="1"/>
          <p:nvPr/>
        </p:nvSpPr>
        <p:spPr>
          <a:xfrm>
            <a:off x="8138160" y="2240280"/>
            <a:ext cx="3200400" cy="32004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Every feature for (stock, day t) uses only prices up to and including day t's close.</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Target = next day's log return, log(close_t+1 / close_t), reported in basis points. 1 bp = 0.01%.</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A price forecast is only that return applied to today's close — the model never predicts a dollar price directly.</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1,097,165 usable stock-days after dropping any row with a missing feature or target.</a:t>
            </a:r>
            <a:endParaRPr lang="en-US" sz="1250" dirty="0"/>
          </a:p>
        </p:txBody>
      </p:sp>
      <p:sp>
        <p:nvSpPr>
          <p:cNvPr id="8" name="Shape 5"/>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9" name="Text 6"/>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Leakage is the one bug that cannot be caught by looking at results, so it is prevented by construction instead.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PROPOSED SYSTEM</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Six stages, each one a file you can run</a:t>
            </a:r>
            <a:endParaRPr lang="en-US" sz="3000" dirty="0"/>
          </a:p>
        </p:txBody>
      </p:sp>
      <p:sp>
        <p:nvSpPr>
          <p:cNvPr id="4" name="Shape 2"/>
          <p:cNvSpPr/>
          <p:nvPr/>
        </p:nvSpPr>
        <p:spPr>
          <a:xfrm>
            <a:off x="640080" y="1600200"/>
            <a:ext cx="1755648" cy="3017520"/>
          </a:xfrm>
          <a:prstGeom prst="roundRect">
            <a:avLst>
              <a:gd name="adj" fmla="val 416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5" name="Shape 3"/>
          <p:cNvSpPr/>
          <p:nvPr/>
        </p:nvSpPr>
        <p:spPr>
          <a:xfrm>
            <a:off x="749808" y="1719072"/>
            <a:ext cx="384048" cy="384048"/>
          </a:xfrm>
          <a:prstGeom prst="ellipse">
            <a:avLst/>
          </a:prstGeom>
          <a:solidFill>
            <a:srgbClr val="1E2761"/>
          </a:solidFill>
          <a:ln w="12700">
            <a:solidFill>
              <a:srgbClr val="1E2761"/>
            </a:solidFill>
            <a:prstDash val="solid"/>
          </a:ln>
        </p:spPr>
      </p:sp>
      <p:sp>
        <p:nvSpPr>
          <p:cNvPr id="6" name="Text 4"/>
          <p:cNvSpPr txBox="1"/>
          <p:nvPr/>
        </p:nvSpPr>
        <p:spPr>
          <a:xfrm>
            <a:off x="749808"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77240" y="2212848"/>
            <a:ext cx="150876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Clean</a:t>
            </a:r>
            <a:endParaRPr lang="en-US" sz="1450" dirty="0"/>
          </a:p>
        </p:txBody>
      </p:sp>
      <p:sp>
        <p:nvSpPr>
          <p:cNvPr id="8" name="Text 6"/>
          <p:cNvSpPr txBox="1"/>
          <p:nvPr/>
        </p:nvSpPr>
        <p:spPr>
          <a:xfrm>
            <a:off x="777240" y="2578608"/>
            <a:ext cx="1554480" cy="548640"/>
          </a:xfrm>
          <a:prstGeom prst="rect">
            <a:avLst/>
          </a:prstGeom>
          <a:noFill/>
          <a:ln/>
        </p:spPr>
        <p:txBody>
          <a:bodyPr wrap="square" lIns="0" tIns="0" rIns="0" bIns="0" rtlCol="0" anchor="ctr"/>
          <a:lstStyle/>
          <a:p>
            <a:pPr indent="0" marL="0">
              <a:buNone/>
            </a:pPr>
            <a:r>
              <a:rPr lang="en-US" sz="1050" dirty="0">
                <a:solidFill>
                  <a:srgbClr val="E8703A"/>
                </a:solidFill>
                <a:latin typeface="Consolas" pitchFamily="34" charset="0"/>
                <a:ea typeface="Consolas" pitchFamily="34" charset="-122"/>
                <a:cs typeface="Consolas" pitchFamily="34" charset="-120"/>
              </a:rPr>
              <a:t>data.py</a:t>
            </a:r>
            <a:endParaRPr lang="en-US" sz="1050" dirty="0"/>
          </a:p>
        </p:txBody>
      </p:sp>
      <p:sp>
        <p:nvSpPr>
          <p:cNvPr id="9" name="Text 7"/>
          <p:cNvSpPr txBox="1"/>
          <p:nvPr/>
        </p:nvSpPr>
        <p:spPr>
          <a:xfrm>
            <a:off x="777240" y="3154680"/>
            <a:ext cx="1508760" cy="128016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474 stocks × 2,526 days</a:t>
            </a:r>
            <a:endParaRPr lang="en-US" sz="1150" dirty="0"/>
          </a:p>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3 data bugs fixed</a:t>
            </a:r>
            <a:endParaRPr lang="en-US" sz="1150" dirty="0"/>
          </a:p>
        </p:txBody>
      </p:sp>
      <p:sp>
        <p:nvSpPr>
          <p:cNvPr id="10" name="Text 8"/>
          <p:cNvSpPr txBox="1"/>
          <p:nvPr/>
        </p:nvSpPr>
        <p:spPr>
          <a:xfrm>
            <a:off x="2359152" y="2834640"/>
            <a:ext cx="228600" cy="365760"/>
          </a:xfrm>
          <a:prstGeom prst="rect">
            <a:avLst/>
          </a:prstGeom>
          <a:noFill/>
          <a:ln/>
        </p:spPr>
        <p:txBody>
          <a:bodyPr wrap="square" lIns="0" tIns="0" rIns="0" bIns="0" rtlCol="0" anchor="ctr"/>
          <a:lstStyle/>
          <a:p>
            <a:pPr algn="ctr" indent="0" marL="0">
              <a:buNone/>
            </a:pPr>
            <a:r>
              <a:rPr lang="en-US" sz="2200" b="1" dirty="0">
                <a:solidFill>
                  <a:srgbClr val="E8703A"/>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2532888" y="1600200"/>
            <a:ext cx="1755648" cy="3017520"/>
          </a:xfrm>
          <a:prstGeom prst="roundRect">
            <a:avLst>
              <a:gd name="adj" fmla="val 416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2" name="Shape 10"/>
          <p:cNvSpPr/>
          <p:nvPr/>
        </p:nvSpPr>
        <p:spPr>
          <a:xfrm>
            <a:off x="2642616" y="1719072"/>
            <a:ext cx="384048" cy="384048"/>
          </a:xfrm>
          <a:prstGeom prst="ellipse">
            <a:avLst/>
          </a:prstGeom>
          <a:solidFill>
            <a:srgbClr val="1E2761"/>
          </a:solidFill>
          <a:ln w="12700">
            <a:solidFill>
              <a:srgbClr val="1E2761"/>
            </a:solidFill>
            <a:prstDash val="solid"/>
          </a:ln>
        </p:spPr>
      </p:sp>
      <p:sp>
        <p:nvSpPr>
          <p:cNvPr id="13" name="Text 11"/>
          <p:cNvSpPr txBox="1"/>
          <p:nvPr/>
        </p:nvSpPr>
        <p:spPr>
          <a:xfrm>
            <a:off x="2642616"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2670048" y="2212848"/>
            <a:ext cx="150876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Engineer</a:t>
            </a:r>
            <a:endParaRPr lang="en-US" sz="1450" dirty="0"/>
          </a:p>
        </p:txBody>
      </p:sp>
      <p:sp>
        <p:nvSpPr>
          <p:cNvPr id="15" name="Text 13"/>
          <p:cNvSpPr txBox="1"/>
          <p:nvPr/>
        </p:nvSpPr>
        <p:spPr>
          <a:xfrm>
            <a:off x="2670048" y="2578608"/>
            <a:ext cx="1554480" cy="548640"/>
          </a:xfrm>
          <a:prstGeom prst="rect">
            <a:avLst/>
          </a:prstGeom>
          <a:noFill/>
          <a:ln/>
        </p:spPr>
        <p:txBody>
          <a:bodyPr wrap="square" lIns="0" tIns="0" rIns="0" bIns="0" rtlCol="0" anchor="ctr"/>
          <a:lstStyle/>
          <a:p>
            <a:pPr indent="0" marL="0">
              <a:buNone/>
            </a:pPr>
            <a:r>
              <a:rPr lang="en-US" sz="1050" dirty="0">
                <a:solidFill>
                  <a:srgbClr val="E8703A"/>
                </a:solidFill>
                <a:latin typeface="Consolas" pitchFamily="34" charset="0"/>
                <a:ea typeface="Consolas" pitchFamily="34" charset="-122"/>
                <a:cs typeface="Consolas" pitchFamily="34" charset="-120"/>
              </a:rPr>
              <a:t>features.py</a:t>
            </a:r>
            <a:endParaRPr lang="en-US" sz="1050" dirty="0"/>
          </a:p>
        </p:txBody>
      </p:sp>
      <p:sp>
        <p:nvSpPr>
          <p:cNvPr id="16" name="Text 14"/>
          <p:cNvSpPr txBox="1"/>
          <p:nvPr/>
        </p:nvSpPr>
        <p:spPr>
          <a:xfrm>
            <a:off x="2670048" y="3154680"/>
            <a:ext cx="1508760" cy="128016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32 features, 7 families</a:t>
            </a:r>
            <a:endParaRPr lang="en-US" sz="1150" dirty="0"/>
          </a:p>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1,097,165 stock-days</a:t>
            </a:r>
            <a:endParaRPr lang="en-US" sz="1150" dirty="0"/>
          </a:p>
        </p:txBody>
      </p:sp>
      <p:sp>
        <p:nvSpPr>
          <p:cNvPr id="17" name="Text 15"/>
          <p:cNvSpPr txBox="1"/>
          <p:nvPr/>
        </p:nvSpPr>
        <p:spPr>
          <a:xfrm>
            <a:off x="4251960" y="2834640"/>
            <a:ext cx="228600" cy="365760"/>
          </a:xfrm>
          <a:prstGeom prst="rect">
            <a:avLst/>
          </a:prstGeom>
          <a:noFill/>
          <a:ln/>
        </p:spPr>
        <p:txBody>
          <a:bodyPr wrap="square" lIns="0" tIns="0" rIns="0" bIns="0" rtlCol="0" anchor="ctr"/>
          <a:lstStyle/>
          <a:p>
            <a:pPr algn="ctr" indent="0" marL="0">
              <a:buNone/>
            </a:pPr>
            <a:r>
              <a:rPr lang="en-US" sz="2200" b="1" dirty="0">
                <a:solidFill>
                  <a:srgbClr val="E8703A"/>
                </a:solidFill>
                <a:latin typeface="Calibri" pitchFamily="34" charset="0"/>
                <a:ea typeface="Calibri" pitchFamily="34" charset="-122"/>
                <a:cs typeface="Calibri" pitchFamily="34" charset="-120"/>
              </a:rPr>
              <a:t>›</a:t>
            </a:r>
            <a:endParaRPr lang="en-US" sz="2200" dirty="0"/>
          </a:p>
        </p:txBody>
      </p:sp>
      <p:sp>
        <p:nvSpPr>
          <p:cNvPr id="18" name="Shape 16"/>
          <p:cNvSpPr/>
          <p:nvPr/>
        </p:nvSpPr>
        <p:spPr>
          <a:xfrm>
            <a:off x="4425696" y="1600200"/>
            <a:ext cx="1755648" cy="3017520"/>
          </a:xfrm>
          <a:prstGeom prst="roundRect">
            <a:avLst>
              <a:gd name="adj" fmla="val 416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9" name="Shape 17"/>
          <p:cNvSpPr/>
          <p:nvPr/>
        </p:nvSpPr>
        <p:spPr>
          <a:xfrm>
            <a:off x="4535424" y="1719072"/>
            <a:ext cx="384048" cy="384048"/>
          </a:xfrm>
          <a:prstGeom prst="ellipse">
            <a:avLst/>
          </a:prstGeom>
          <a:solidFill>
            <a:srgbClr val="1E2761"/>
          </a:solidFill>
          <a:ln w="12700">
            <a:solidFill>
              <a:srgbClr val="1E2761"/>
            </a:solidFill>
            <a:prstDash val="solid"/>
          </a:ln>
        </p:spPr>
      </p:sp>
      <p:sp>
        <p:nvSpPr>
          <p:cNvPr id="20" name="Text 18"/>
          <p:cNvSpPr txBox="1"/>
          <p:nvPr/>
        </p:nvSpPr>
        <p:spPr>
          <a:xfrm>
            <a:off x="4535424"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4562856" y="2212848"/>
            <a:ext cx="150876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Tune</a:t>
            </a:r>
            <a:endParaRPr lang="en-US" sz="1450" dirty="0"/>
          </a:p>
        </p:txBody>
      </p:sp>
      <p:sp>
        <p:nvSpPr>
          <p:cNvPr id="22" name="Text 20"/>
          <p:cNvSpPr txBox="1"/>
          <p:nvPr/>
        </p:nvSpPr>
        <p:spPr>
          <a:xfrm>
            <a:off x="4562856" y="2578608"/>
            <a:ext cx="1554480" cy="548640"/>
          </a:xfrm>
          <a:prstGeom prst="rect">
            <a:avLst/>
          </a:prstGeom>
          <a:noFill/>
          <a:ln/>
        </p:spPr>
        <p:txBody>
          <a:bodyPr wrap="square" lIns="0" tIns="0" rIns="0" bIns="0" rtlCol="0" anchor="ctr"/>
          <a:lstStyle/>
          <a:p>
            <a:pPr indent="0" marL="0">
              <a:buNone/>
            </a:pPr>
            <a:r>
              <a:rPr lang="en-US" sz="1050" dirty="0">
                <a:solidFill>
                  <a:srgbClr val="E8703A"/>
                </a:solidFill>
                <a:latin typeface="Consolas" pitchFamily="34" charset="0"/>
                <a:ea typeface="Consolas" pitchFamily="34" charset="-122"/>
                <a:cs typeface="Consolas" pitchFamily="34" charset="-120"/>
              </a:rPr>
              <a:t>tune.py</a:t>
            </a:r>
            <a:endParaRPr lang="en-US" sz="1050" dirty="0"/>
          </a:p>
        </p:txBody>
      </p:sp>
      <p:sp>
        <p:nvSpPr>
          <p:cNvPr id="23" name="Text 21"/>
          <p:cNvSpPr txBox="1"/>
          <p:nvPr/>
        </p:nvSpPr>
        <p:spPr>
          <a:xfrm>
            <a:off x="4562856" y="3154680"/>
            <a:ext cx="1508760" cy="128016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6 settings, validated on</a:t>
            </a:r>
            <a:endParaRPr lang="en-US" sz="1150" dirty="0"/>
          </a:p>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2017 and 2018 only</a:t>
            </a:r>
            <a:endParaRPr lang="en-US" sz="1150" dirty="0"/>
          </a:p>
        </p:txBody>
      </p:sp>
      <p:sp>
        <p:nvSpPr>
          <p:cNvPr id="24" name="Text 22"/>
          <p:cNvSpPr txBox="1"/>
          <p:nvPr/>
        </p:nvSpPr>
        <p:spPr>
          <a:xfrm>
            <a:off x="6144768" y="2834640"/>
            <a:ext cx="228600" cy="365760"/>
          </a:xfrm>
          <a:prstGeom prst="rect">
            <a:avLst/>
          </a:prstGeom>
          <a:noFill/>
          <a:ln/>
        </p:spPr>
        <p:txBody>
          <a:bodyPr wrap="square" lIns="0" tIns="0" rIns="0" bIns="0" rtlCol="0" anchor="ctr"/>
          <a:lstStyle/>
          <a:p>
            <a:pPr algn="ctr" indent="0" marL="0">
              <a:buNone/>
            </a:pPr>
            <a:r>
              <a:rPr lang="en-US" sz="2200" b="1" dirty="0">
                <a:solidFill>
                  <a:srgbClr val="E8703A"/>
                </a:solidFill>
                <a:latin typeface="Calibri" pitchFamily="34" charset="0"/>
                <a:ea typeface="Calibri" pitchFamily="34" charset="-122"/>
                <a:cs typeface="Calibri" pitchFamily="34" charset="-120"/>
              </a:rPr>
              <a:t>›</a:t>
            </a:r>
            <a:endParaRPr lang="en-US" sz="2200" dirty="0"/>
          </a:p>
        </p:txBody>
      </p:sp>
      <p:sp>
        <p:nvSpPr>
          <p:cNvPr id="25" name="Shape 23"/>
          <p:cNvSpPr/>
          <p:nvPr/>
        </p:nvSpPr>
        <p:spPr>
          <a:xfrm>
            <a:off x="6318504" y="1600200"/>
            <a:ext cx="1755648" cy="3017520"/>
          </a:xfrm>
          <a:prstGeom prst="roundRect">
            <a:avLst>
              <a:gd name="adj" fmla="val 416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6" name="Shape 24"/>
          <p:cNvSpPr/>
          <p:nvPr/>
        </p:nvSpPr>
        <p:spPr>
          <a:xfrm>
            <a:off x="6428232" y="1719072"/>
            <a:ext cx="384048" cy="384048"/>
          </a:xfrm>
          <a:prstGeom prst="ellipse">
            <a:avLst/>
          </a:prstGeom>
          <a:solidFill>
            <a:srgbClr val="1E2761"/>
          </a:solidFill>
          <a:ln w="12700">
            <a:solidFill>
              <a:srgbClr val="1E2761"/>
            </a:solidFill>
            <a:prstDash val="solid"/>
          </a:ln>
        </p:spPr>
      </p:sp>
      <p:sp>
        <p:nvSpPr>
          <p:cNvPr id="27" name="Text 25"/>
          <p:cNvSpPr txBox="1"/>
          <p:nvPr/>
        </p:nvSpPr>
        <p:spPr>
          <a:xfrm>
            <a:off x="6428232"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6455664" y="2212848"/>
            <a:ext cx="150876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Train</a:t>
            </a:r>
            <a:endParaRPr lang="en-US" sz="1450" dirty="0"/>
          </a:p>
        </p:txBody>
      </p:sp>
      <p:sp>
        <p:nvSpPr>
          <p:cNvPr id="29" name="Text 27"/>
          <p:cNvSpPr txBox="1"/>
          <p:nvPr/>
        </p:nvSpPr>
        <p:spPr>
          <a:xfrm>
            <a:off x="6455664" y="2578608"/>
            <a:ext cx="1554480" cy="548640"/>
          </a:xfrm>
          <a:prstGeom prst="rect">
            <a:avLst/>
          </a:prstGeom>
          <a:noFill/>
          <a:ln/>
        </p:spPr>
        <p:txBody>
          <a:bodyPr wrap="square" lIns="0" tIns="0" rIns="0" bIns="0" rtlCol="0" anchor="ctr"/>
          <a:lstStyle/>
          <a:p>
            <a:pPr indent="0" marL="0">
              <a:buNone/>
            </a:pPr>
            <a:r>
              <a:rPr lang="en-US" sz="1050" dirty="0">
                <a:solidFill>
                  <a:srgbClr val="E8703A"/>
                </a:solidFill>
                <a:latin typeface="Consolas" pitchFamily="34" charset="0"/>
                <a:ea typeface="Consolas" pitchFamily="34" charset="-122"/>
                <a:cs typeface="Consolas" pitchFamily="34" charset="-120"/>
              </a:rPr>
              <a:t>train.py</a:t>
            </a:r>
            <a:endParaRPr lang="en-US" sz="1050" dirty="0"/>
          </a:p>
        </p:txBody>
      </p:sp>
      <p:sp>
        <p:nvSpPr>
          <p:cNvPr id="30" name="Text 28"/>
          <p:cNvSpPr txBox="1"/>
          <p:nvPr/>
        </p:nvSpPr>
        <p:spPr>
          <a:xfrm>
            <a:off x="6455664" y="3154680"/>
            <a:ext cx="1508760" cy="128016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Walk-forward, 4 retrains</a:t>
            </a:r>
            <a:endParaRPr lang="en-US" sz="1150" dirty="0"/>
          </a:p>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405,545 forecasts</a:t>
            </a:r>
            <a:endParaRPr lang="en-US" sz="1150" dirty="0"/>
          </a:p>
        </p:txBody>
      </p:sp>
      <p:sp>
        <p:nvSpPr>
          <p:cNvPr id="31" name="Text 29"/>
          <p:cNvSpPr txBox="1"/>
          <p:nvPr/>
        </p:nvSpPr>
        <p:spPr>
          <a:xfrm>
            <a:off x="8037576" y="2834640"/>
            <a:ext cx="228600" cy="365760"/>
          </a:xfrm>
          <a:prstGeom prst="rect">
            <a:avLst/>
          </a:prstGeom>
          <a:noFill/>
          <a:ln/>
        </p:spPr>
        <p:txBody>
          <a:bodyPr wrap="square" lIns="0" tIns="0" rIns="0" bIns="0" rtlCol="0" anchor="ctr"/>
          <a:lstStyle/>
          <a:p>
            <a:pPr algn="ctr" indent="0" marL="0">
              <a:buNone/>
            </a:pPr>
            <a:r>
              <a:rPr lang="en-US" sz="2200" b="1" dirty="0">
                <a:solidFill>
                  <a:srgbClr val="E8703A"/>
                </a:solidFill>
                <a:latin typeface="Calibri" pitchFamily="34" charset="0"/>
                <a:ea typeface="Calibri" pitchFamily="34" charset="-122"/>
                <a:cs typeface="Calibri" pitchFamily="34" charset="-120"/>
              </a:rPr>
              <a:t>›</a:t>
            </a:r>
            <a:endParaRPr lang="en-US" sz="2200" dirty="0"/>
          </a:p>
        </p:txBody>
      </p:sp>
      <p:sp>
        <p:nvSpPr>
          <p:cNvPr id="32" name="Shape 30"/>
          <p:cNvSpPr/>
          <p:nvPr/>
        </p:nvSpPr>
        <p:spPr>
          <a:xfrm>
            <a:off x="8211312" y="1600200"/>
            <a:ext cx="1755648" cy="3017520"/>
          </a:xfrm>
          <a:prstGeom prst="roundRect">
            <a:avLst>
              <a:gd name="adj" fmla="val 416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33" name="Shape 31"/>
          <p:cNvSpPr/>
          <p:nvPr/>
        </p:nvSpPr>
        <p:spPr>
          <a:xfrm>
            <a:off x="8321040" y="1719072"/>
            <a:ext cx="384048" cy="384048"/>
          </a:xfrm>
          <a:prstGeom prst="ellipse">
            <a:avLst/>
          </a:prstGeom>
          <a:solidFill>
            <a:srgbClr val="1E2761"/>
          </a:solidFill>
          <a:ln w="12700">
            <a:solidFill>
              <a:srgbClr val="1E2761"/>
            </a:solidFill>
            <a:prstDash val="solid"/>
          </a:ln>
        </p:spPr>
      </p:sp>
      <p:sp>
        <p:nvSpPr>
          <p:cNvPr id="34" name="Text 32"/>
          <p:cNvSpPr txBox="1"/>
          <p:nvPr/>
        </p:nvSpPr>
        <p:spPr>
          <a:xfrm>
            <a:off x="8321040"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5" name="Text 33"/>
          <p:cNvSpPr txBox="1"/>
          <p:nvPr/>
        </p:nvSpPr>
        <p:spPr>
          <a:xfrm>
            <a:off x="8348472" y="2212848"/>
            <a:ext cx="150876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Evaluate</a:t>
            </a:r>
            <a:endParaRPr lang="en-US" sz="1450" dirty="0"/>
          </a:p>
        </p:txBody>
      </p:sp>
      <p:sp>
        <p:nvSpPr>
          <p:cNvPr id="36" name="Text 34"/>
          <p:cNvSpPr txBox="1"/>
          <p:nvPr/>
        </p:nvSpPr>
        <p:spPr>
          <a:xfrm>
            <a:off x="8348472" y="2578608"/>
            <a:ext cx="1554480" cy="548640"/>
          </a:xfrm>
          <a:prstGeom prst="rect">
            <a:avLst/>
          </a:prstGeom>
          <a:noFill/>
          <a:ln/>
        </p:spPr>
        <p:txBody>
          <a:bodyPr wrap="square" lIns="0" tIns="0" rIns="0" bIns="0" rtlCol="0" anchor="ctr"/>
          <a:lstStyle/>
          <a:p>
            <a:pPr indent="0" marL="0">
              <a:buNone/>
            </a:pPr>
            <a:r>
              <a:rPr lang="en-US" sz="1050" dirty="0">
                <a:solidFill>
                  <a:srgbClr val="E8703A"/>
                </a:solidFill>
                <a:latin typeface="Consolas" pitchFamily="34" charset="0"/>
                <a:ea typeface="Consolas" pitchFamily="34" charset="-122"/>
                <a:cs typeface="Consolas" pitchFamily="34" charset="-120"/>
              </a:rPr>
              <a:t>evaluate.py</a:t>
            </a:r>
            <a:endParaRPr lang="en-US" sz="1050" dirty="0"/>
          </a:p>
        </p:txBody>
      </p:sp>
      <p:sp>
        <p:nvSpPr>
          <p:cNvPr id="37" name="Text 35"/>
          <p:cNvSpPr txBox="1"/>
          <p:nvPr/>
        </p:nvSpPr>
        <p:spPr>
          <a:xfrm>
            <a:off x="8348472" y="3154680"/>
            <a:ext cx="1508760" cy="128016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Return space first,</a:t>
            </a:r>
            <a:endParaRPr lang="en-US" sz="1150" dirty="0"/>
          </a:p>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baselines + DM tests</a:t>
            </a:r>
            <a:endParaRPr lang="en-US" sz="1150" dirty="0"/>
          </a:p>
        </p:txBody>
      </p:sp>
      <p:sp>
        <p:nvSpPr>
          <p:cNvPr id="38" name="Text 36"/>
          <p:cNvSpPr txBox="1"/>
          <p:nvPr/>
        </p:nvSpPr>
        <p:spPr>
          <a:xfrm>
            <a:off x="9930384" y="2834640"/>
            <a:ext cx="228600" cy="365760"/>
          </a:xfrm>
          <a:prstGeom prst="rect">
            <a:avLst/>
          </a:prstGeom>
          <a:noFill/>
          <a:ln/>
        </p:spPr>
        <p:txBody>
          <a:bodyPr wrap="square" lIns="0" tIns="0" rIns="0" bIns="0" rtlCol="0" anchor="ctr"/>
          <a:lstStyle/>
          <a:p>
            <a:pPr algn="ctr" indent="0" marL="0">
              <a:buNone/>
            </a:pPr>
            <a:r>
              <a:rPr lang="en-US" sz="2200" b="1" dirty="0">
                <a:solidFill>
                  <a:srgbClr val="E8703A"/>
                </a:solidFill>
                <a:latin typeface="Calibri" pitchFamily="34" charset="0"/>
                <a:ea typeface="Calibri" pitchFamily="34" charset="-122"/>
                <a:cs typeface="Calibri" pitchFamily="34" charset="-120"/>
              </a:rPr>
              <a:t>›</a:t>
            </a:r>
            <a:endParaRPr lang="en-US" sz="2200" dirty="0"/>
          </a:p>
        </p:txBody>
      </p:sp>
      <p:sp>
        <p:nvSpPr>
          <p:cNvPr id="39" name="Shape 37"/>
          <p:cNvSpPr/>
          <p:nvPr/>
        </p:nvSpPr>
        <p:spPr>
          <a:xfrm>
            <a:off x="10104120" y="1600200"/>
            <a:ext cx="1755648" cy="3017520"/>
          </a:xfrm>
          <a:prstGeom prst="roundRect">
            <a:avLst>
              <a:gd name="adj" fmla="val 4167"/>
            </a:avLst>
          </a:prstGeom>
          <a:solidFill>
            <a:srgbClr val="1E2761"/>
          </a:solidFill>
          <a:ln w="12700">
            <a:solidFill>
              <a:srgbClr val="1E2761"/>
            </a:solidFill>
            <a:prstDash val="solid"/>
          </a:ln>
          <a:effectLst>
            <a:outerShdw sx="100000" sy="100000" kx="0" ky="0" algn="bl" rotWithShape="0" blurRad="101600" dist="12700" dir="5400000">
              <a:srgbClr val="9AA7BD">
                <a:alpha val="22000"/>
              </a:srgbClr>
            </a:outerShdw>
          </a:effectLst>
        </p:spPr>
      </p:sp>
      <p:sp>
        <p:nvSpPr>
          <p:cNvPr id="40" name="Shape 38"/>
          <p:cNvSpPr/>
          <p:nvPr/>
        </p:nvSpPr>
        <p:spPr>
          <a:xfrm>
            <a:off x="10213848" y="1719072"/>
            <a:ext cx="384048" cy="384048"/>
          </a:xfrm>
          <a:prstGeom prst="ellipse">
            <a:avLst/>
          </a:prstGeom>
          <a:solidFill>
            <a:srgbClr val="E8703A"/>
          </a:solidFill>
          <a:ln w="12700">
            <a:solidFill>
              <a:srgbClr val="E8703A"/>
            </a:solidFill>
            <a:prstDash val="solid"/>
          </a:ln>
        </p:spPr>
      </p:sp>
      <p:sp>
        <p:nvSpPr>
          <p:cNvPr id="41" name="Text 39"/>
          <p:cNvSpPr txBox="1"/>
          <p:nvPr/>
        </p:nvSpPr>
        <p:spPr>
          <a:xfrm>
            <a:off x="10213848"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2" name="Text 40"/>
          <p:cNvSpPr txBox="1"/>
          <p:nvPr/>
        </p:nvSpPr>
        <p:spPr>
          <a:xfrm>
            <a:off x="10241280" y="2212848"/>
            <a:ext cx="150876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Explain &amp; audit</a:t>
            </a:r>
            <a:endParaRPr lang="en-US" sz="1450" dirty="0"/>
          </a:p>
        </p:txBody>
      </p:sp>
      <p:sp>
        <p:nvSpPr>
          <p:cNvPr id="43" name="Text 41"/>
          <p:cNvSpPr txBox="1"/>
          <p:nvPr/>
        </p:nvSpPr>
        <p:spPr>
          <a:xfrm>
            <a:off x="10241280" y="2578608"/>
            <a:ext cx="1554480" cy="548640"/>
          </a:xfrm>
          <a:prstGeom prst="rect">
            <a:avLst/>
          </a:prstGeom>
          <a:noFill/>
          <a:ln/>
        </p:spPr>
        <p:txBody>
          <a:bodyPr wrap="square" lIns="0" tIns="0" rIns="0" bIns="0" rtlCol="0" anchor="ctr"/>
          <a:lstStyle/>
          <a:p>
            <a:pPr indent="0" marL="0">
              <a:buNone/>
            </a:pPr>
            <a:r>
              <a:rPr lang="en-US" sz="1050" dirty="0">
                <a:solidFill>
                  <a:srgbClr val="CADCFC"/>
                </a:solidFill>
                <a:latin typeface="Consolas" pitchFamily="34" charset="0"/>
                <a:ea typeface="Consolas" pitchFamily="34" charset="-122"/>
                <a:cs typeface="Consolas" pitchFamily="34" charset="-120"/>
              </a:rPr>
              <a:t>explain.py</a:t>
            </a:r>
            <a:endParaRPr lang="en-US" sz="1050" dirty="0"/>
          </a:p>
          <a:p>
            <a:pPr indent="0" marL="0">
              <a:buNone/>
            </a:pPr>
            <a:r>
              <a:rPr lang="en-US" sz="1050" dirty="0">
                <a:solidFill>
                  <a:srgbClr val="CADCFC"/>
                </a:solidFill>
                <a:latin typeface="Consolas" pitchFamily="34" charset="0"/>
                <a:ea typeface="Consolas" pitchFamily="34" charset="-122"/>
                <a:cs typeface="Consolas" pitchFamily="34" charset="-120"/>
              </a:rPr>
              <a:t>lime_explain.py</a:t>
            </a:r>
            <a:endParaRPr lang="en-US" sz="1050" dirty="0"/>
          </a:p>
        </p:txBody>
      </p:sp>
      <p:sp>
        <p:nvSpPr>
          <p:cNvPr id="44" name="Text 42"/>
          <p:cNvSpPr txBox="1"/>
          <p:nvPr/>
        </p:nvSpPr>
        <p:spPr>
          <a:xfrm>
            <a:off x="10241280" y="3154680"/>
            <a:ext cx="1508760" cy="128016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SHAP + LIME,</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5 reliability tests</a:t>
            </a:r>
            <a:endParaRPr lang="en-US" sz="1150" dirty="0"/>
          </a:p>
        </p:txBody>
      </p:sp>
      <p:sp>
        <p:nvSpPr>
          <p:cNvPr id="45" name="Shape 43"/>
          <p:cNvSpPr/>
          <p:nvPr/>
        </p:nvSpPr>
        <p:spPr>
          <a:xfrm>
            <a:off x="640080" y="4800600"/>
            <a:ext cx="5394960" cy="777240"/>
          </a:xfrm>
          <a:prstGeom prst="roundRect">
            <a:avLst>
              <a:gd name="adj" fmla="val 9412"/>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46" name="Text 44"/>
          <p:cNvSpPr txBox="1"/>
          <p:nvPr/>
        </p:nvSpPr>
        <p:spPr>
          <a:xfrm>
            <a:off x="868680" y="4846320"/>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live.py — forecast a day that has not happened</a:t>
            </a:r>
            <a:endParaRPr lang="en-US" sz="1350" dirty="0"/>
          </a:p>
        </p:txBody>
      </p:sp>
      <p:sp>
        <p:nvSpPr>
          <p:cNvPr id="47" name="Text 45"/>
          <p:cNvSpPr txBox="1"/>
          <p:nvPr/>
        </p:nvSpPr>
        <p:spPr>
          <a:xfrm>
            <a:off x="868680" y="5138928"/>
            <a:ext cx="4937760" cy="320040"/>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Same features, same hyperparameters, retrained to the latest close</a:t>
            </a:r>
            <a:endParaRPr lang="en-US" sz="1200" dirty="0"/>
          </a:p>
        </p:txBody>
      </p:sp>
      <p:sp>
        <p:nvSpPr>
          <p:cNvPr id="48" name="Shape 46"/>
          <p:cNvSpPr/>
          <p:nvPr/>
        </p:nvSpPr>
        <p:spPr>
          <a:xfrm>
            <a:off x="6217920" y="4800600"/>
            <a:ext cx="5669280" cy="777240"/>
          </a:xfrm>
          <a:prstGeom prst="roundRect">
            <a:avLst>
              <a:gd name="adj" fmla="val 9412"/>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49" name="Text 47"/>
          <p:cNvSpPr txBox="1"/>
          <p:nvPr/>
        </p:nvSpPr>
        <p:spPr>
          <a:xfrm>
            <a:off x="6446520" y="4846320"/>
            <a:ext cx="521208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app.py — interactive demo on localhost:8000</a:t>
            </a:r>
            <a:endParaRPr lang="en-US" sz="1350" dirty="0"/>
          </a:p>
        </p:txBody>
      </p:sp>
      <p:sp>
        <p:nvSpPr>
          <p:cNvPr id="50" name="Text 48"/>
          <p:cNvSpPr txBox="1"/>
          <p:nvPr/>
        </p:nvSpPr>
        <p:spPr>
          <a:xfrm>
            <a:off x="6446520" y="5138928"/>
            <a:ext cx="5212080" cy="320040"/>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Imports the study's own SHAP and LIME code, so the demo cannot drift</a:t>
            </a:r>
            <a:endParaRPr lang="en-US" sz="1200" dirty="0"/>
          </a:p>
        </p:txBody>
      </p:sp>
      <p:sp>
        <p:nvSpPr>
          <p:cNvPr id="51" name="Shape 49"/>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52" name="Text 50"/>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Nothing is duplicated: live.py imports features.build(), app.py imports lime_weights(), so demo and study are the same pipeline.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Walk-forward, so nothing is scored on data it saw</a:t>
            </a:r>
            <a:endParaRPr lang="en-US" sz="3000" dirty="0"/>
          </a:p>
        </p:txBody>
      </p:sp>
      <p:sp>
        <p:nvSpPr>
          <p:cNvPr id="4" name="Shape 2"/>
          <p:cNvSpPr/>
          <p:nvPr/>
        </p:nvSpPr>
        <p:spPr>
          <a:xfrm>
            <a:off x="640080" y="1508760"/>
            <a:ext cx="3520440" cy="868680"/>
          </a:xfrm>
          <a:prstGeom prst="roundRect">
            <a:avLst>
              <a:gd name="adj" fmla="val 842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5" name="Shape 3"/>
          <p:cNvSpPr/>
          <p:nvPr/>
        </p:nvSpPr>
        <p:spPr>
          <a:xfrm>
            <a:off x="822960" y="1673352"/>
            <a:ext cx="164592" cy="548640"/>
          </a:xfrm>
          <a:prstGeom prst="roundRect">
            <a:avLst>
              <a:gd name="adj" fmla="val 22222"/>
            </a:avLst>
          </a:prstGeom>
          <a:solidFill>
            <a:srgbClr val="1E2761"/>
          </a:solidFill>
          <a:ln w="12700">
            <a:solidFill>
              <a:srgbClr val="1E2761"/>
            </a:solidFill>
            <a:prstDash val="solid"/>
          </a:ln>
        </p:spPr>
      </p:sp>
      <p:sp>
        <p:nvSpPr>
          <p:cNvPr id="6" name="Text 4"/>
          <p:cNvSpPr txBox="1"/>
          <p:nvPr/>
        </p:nvSpPr>
        <p:spPr>
          <a:xfrm>
            <a:off x="1115568" y="1645920"/>
            <a:ext cx="2834640" cy="301752"/>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Train</a:t>
            </a:r>
            <a:endParaRPr lang="en-US" sz="1500" dirty="0"/>
          </a:p>
        </p:txBody>
      </p:sp>
      <p:sp>
        <p:nvSpPr>
          <p:cNvPr id="7" name="Text 5"/>
          <p:cNvSpPr txBox="1"/>
          <p:nvPr/>
        </p:nvSpPr>
        <p:spPr>
          <a:xfrm>
            <a:off x="1115568" y="1938528"/>
            <a:ext cx="2834640" cy="301752"/>
          </a:xfrm>
          <a:prstGeom prst="rect">
            <a:avLst/>
          </a:prstGeom>
          <a:noFill/>
          <a:ln/>
        </p:spPr>
        <p:txBody>
          <a:bodyPr wrap="square" lIns="0" tIns="0" rIns="0" bIns="0" rtlCol="0" anchor="ctr"/>
          <a:lstStyle/>
          <a:p>
            <a:pPr indent="0" marL="0">
              <a:buNone/>
            </a:pPr>
            <a:r>
              <a:rPr lang="en-US" sz="1250" dirty="0">
                <a:solidFill>
                  <a:srgbClr val="5A6472"/>
                </a:solidFill>
                <a:latin typeface="Consolas" pitchFamily="34" charset="0"/>
                <a:ea typeface="Consolas" pitchFamily="34" charset="-122"/>
                <a:cs typeface="Consolas" pitchFamily="34" charset="-120"/>
              </a:rPr>
              <a:t>2013-03 → 2016-12</a:t>
            </a:r>
            <a:endParaRPr lang="en-US" sz="1250" dirty="0"/>
          </a:p>
        </p:txBody>
      </p:sp>
      <p:sp>
        <p:nvSpPr>
          <p:cNvPr id="8" name="Shape 6"/>
          <p:cNvSpPr/>
          <p:nvPr/>
        </p:nvSpPr>
        <p:spPr>
          <a:xfrm>
            <a:off x="4389120" y="1508760"/>
            <a:ext cx="3520440" cy="868680"/>
          </a:xfrm>
          <a:prstGeom prst="roundRect">
            <a:avLst>
              <a:gd name="adj" fmla="val 842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9" name="Shape 7"/>
          <p:cNvSpPr/>
          <p:nvPr/>
        </p:nvSpPr>
        <p:spPr>
          <a:xfrm>
            <a:off x="4572000" y="1673352"/>
            <a:ext cx="164592" cy="548640"/>
          </a:xfrm>
          <a:prstGeom prst="roundRect">
            <a:avLst>
              <a:gd name="adj" fmla="val 22222"/>
            </a:avLst>
          </a:prstGeom>
          <a:solidFill>
            <a:srgbClr val="E8703A"/>
          </a:solidFill>
          <a:ln w="12700">
            <a:solidFill>
              <a:srgbClr val="E8703A"/>
            </a:solidFill>
            <a:prstDash val="solid"/>
          </a:ln>
        </p:spPr>
      </p:sp>
      <p:sp>
        <p:nvSpPr>
          <p:cNvPr id="10" name="Text 8"/>
          <p:cNvSpPr txBox="1"/>
          <p:nvPr/>
        </p:nvSpPr>
        <p:spPr>
          <a:xfrm>
            <a:off x="4864608" y="1645920"/>
            <a:ext cx="2834640" cy="301752"/>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Validate</a:t>
            </a:r>
            <a:endParaRPr lang="en-US" sz="1500" dirty="0"/>
          </a:p>
        </p:txBody>
      </p:sp>
      <p:sp>
        <p:nvSpPr>
          <p:cNvPr id="11" name="Text 9"/>
          <p:cNvSpPr txBox="1"/>
          <p:nvPr/>
        </p:nvSpPr>
        <p:spPr>
          <a:xfrm>
            <a:off x="4864608" y="1938528"/>
            <a:ext cx="2834640" cy="301752"/>
          </a:xfrm>
          <a:prstGeom prst="rect">
            <a:avLst/>
          </a:prstGeom>
          <a:noFill/>
          <a:ln/>
        </p:spPr>
        <p:txBody>
          <a:bodyPr wrap="square" lIns="0" tIns="0" rIns="0" bIns="0" rtlCol="0" anchor="ctr"/>
          <a:lstStyle/>
          <a:p>
            <a:pPr indent="0" marL="0">
              <a:buNone/>
            </a:pPr>
            <a:r>
              <a:rPr lang="en-US" sz="1250" dirty="0">
                <a:solidFill>
                  <a:srgbClr val="5A6472"/>
                </a:solidFill>
                <a:latin typeface="Consolas" pitchFamily="34" charset="0"/>
                <a:ea typeface="Consolas" pitchFamily="34" charset="-122"/>
                <a:cs typeface="Consolas" pitchFamily="34" charset="-120"/>
              </a:rPr>
              <a:t>2017 and 2018</a:t>
            </a:r>
            <a:endParaRPr lang="en-US" sz="1250" dirty="0"/>
          </a:p>
        </p:txBody>
      </p:sp>
      <p:sp>
        <p:nvSpPr>
          <p:cNvPr id="12" name="Shape 10"/>
          <p:cNvSpPr/>
          <p:nvPr/>
        </p:nvSpPr>
        <p:spPr>
          <a:xfrm>
            <a:off x="8138160" y="1508760"/>
            <a:ext cx="3520440" cy="868680"/>
          </a:xfrm>
          <a:prstGeom prst="roundRect">
            <a:avLst>
              <a:gd name="adj" fmla="val 842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3" name="Shape 11"/>
          <p:cNvSpPr/>
          <p:nvPr/>
        </p:nvSpPr>
        <p:spPr>
          <a:xfrm>
            <a:off x="8321040" y="1673352"/>
            <a:ext cx="164592" cy="548640"/>
          </a:xfrm>
          <a:prstGeom prst="roundRect">
            <a:avLst>
              <a:gd name="adj" fmla="val 22222"/>
            </a:avLst>
          </a:prstGeom>
          <a:solidFill>
            <a:srgbClr val="2E7D63"/>
          </a:solidFill>
          <a:ln w="12700">
            <a:solidFill>
              <a:srgbClr val="2E7D63"/>
            </a:solidFill>
            <a:prstDash val="solid"/>
          </a:ln>
        </p:spPr>
      </p:sp>
      <p:sp>
        <p:nvSpPr>
          <p:cNvPr id="14" name="Text 12"/>
          <p:cNvSpPr txBox="1"/>
          <p:nvPr/>
        </p:nvSpPr>
        <p:spPr>
          <a:xfrm>
            <a:off x="8613648" y="1645920"/>
            <a:ext cx="2834640" cy="301752"/>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Test</a:t>
            </a:r>
            <a:endParaRPr lang="en-US" sz="1500" dirty="0"/>
          </a:p>
        </p:txBody>
      </p:sp>
      <p:sp>
        <p:nvSpPr>
          <p:cNvPr id="15" name="Text 13"/>
          <p:cNvSpPr txBox="1"/>
          <p:nvPr/>
        </p:nvSpPr>
        <p:spPr>
          <a:xfrm>
            <a:off x="8613648" y="1938528"/>
            <a:ext cx="2834640" cy="301752"/>
          </a:xfrm>
          <a:prstGeom prst="rect">
            <a:avLst/>
          </a:prstGeom>
          <a:noFill/>
          <a:ln/>
        </p:spPr>
        <p:txBody>
          <a:bodyPr wrap="square" lIns="0" tIns="0" rIns="0" bIns="0" rtlCol="0" anchor="ctr"/>
          <a:lstStyle/>
          <a:p>
            <a:pPr indent="0" marL="0">
              <a:buNone/>
            </a:pPr>
            <a:r>
              <a:rPr lang="en-US" sz="1250" dirty="0">
                <a:solidFill>
                  <a:srgbClr val="5A6472"/>
                </a:solidFill>
                <a:latin typeface="Consolas" pitchFamily="34" charset="0"/>
                <a:ea typeface="Consolas" pitchFamily="34" charset="-122"/>
                <a:cs typeface="Consolas" pitchFamily="34" charset="-120"/>
              </a:rPr>
              <a:t>2019 → 2022-05</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6949440" cy="914400"/>
        </p:xfrm>
        <a:graphic>
          <a:graphicData uri="http://schemas.openxmlformats.org/drawingml/2006/table">
            <a:tbl>
              <a:tblPr/>
              <a:tblGrid>
                <a:gridCol w="1737360"/>
                <a:gridCol w="2103120"/>
                <a:gridCol w="2103120"/>
                <a:gridCol w="100584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year</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Trained on</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Forecasts made</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Fit time</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r>
              <a:tr h="365760">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691,620 stock-days</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119,340</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96 s</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65760">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810,960</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119,919</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120 s</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930,879</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119,448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160 s</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65760">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2022 (to May)</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1,050,327</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46,838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185 s</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405,545 over 856 days</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9 min</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bl>
          </a:graphicData>
        </a:graphic>
      </p:graphicFrame>
      <p:sp>
        <p:nvSpPr>
          <p:cNvPr id="17" name="Shape 14"/>
          <p:cNvSpPr/>
          <p:nvPr/>
        </p:nvSpPr>
        <p:spPr>
          <a:xfrm>
            <a:off x="7863840" y="2606040"/>
            <a:ext cx="3703320" cy="2926080"/>
          </a:xfrm>
          <a:prstGeom prst="roundRect">
            <a:avLst>
              <a:gd name="adj" fmla="val 2500"/>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8" name="Text 15"/>
          <p:cNvSpPr txBox="1"/>
          <p:nvPr/>
        </p:nvSpPr>
        <p:spPr>
          <a:xfrm>
            <a:off x="8138160" y="2743200"/>
            <a:ext cx="320040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model</a:t>
            </a:r>
            <a:endParaRPr lang="en-US" sz="1600" dirty="0"/>
          </a:p>
        </p:txBody>
      </p:sp>
      <p:sp>
        <p:nvSpPr>
          <p:cNvPr id="19" name="Text 16"/>
          <p:cNvSpPr txBox="1"/>
          <p:nvPr/>
        </p:nvSpPr>
        <p:spPr>
          <a:xfrm>
            <a:off x="8138160" y="3127248"/>
            <a:ext cx="3200400" cy="22860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Random Forest regressor, 300 trees.</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min_samples_leaf 5000, max_features 0.3, max_samples 0.25 — chosen on validation MSE.</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Baselines: naive persistence, historical drift, Ridge, and a Random Forest on raw price levels.</a:t>
            </a:r>
            <a:endParaRPr lang="en-US" sz="1250" dirty="0"/>
          </a:p>
        </p:txBody>
      </p:sp>
      <p:sp>
        <p:nvSpPr>
          <p:cNvPr id="20" name="Shape 17"/>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21" name="Text 18"/>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 chosen settings are the most heavily smoothed on the grid — the data itself is saying there is almost nothing to fit.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RQ1 — FINDING 1</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same forecasts, scored two ways</a:t>
            </a:r>
            <a:endParaRPr lang="en-US" sz="3000" dirty="0"/>
          </a:p>
        </p:txBody>
      </p:sp>
      <p:pic>
        <p:nvPicPr>
          <p:cNvPr id="4" name="Image 0" descr="/Users/abish/Downloads/StockRF-XAI/results/figures/price_vs_return.png">    </p:cNvPr>
          <p:cNvPicPr>
            <a:picLocks noChangeAspect="1"/>
          </p:cNvPicPr>
          <p:nvPr/>
        </p:nvPicPr>
        <p:blipFill>
          <a:blip r:embed="rId1"/>
          <a:stretch>
            <a:fillRect/>
          </a:stretch>
        </p:blipFill>
        <p:spPr>
          <a:xfrm>
            <a:off x="640080" y="1463040"/>
            <a:ext cx="7223760" cy="2706624"/>
          </a:xfrm>
          <a:prstGeom prst="rect">
            <a:avLst/>
          </a:prstGeom>
        </p:spPr>
      </p:pic>
      <p:sp>
        <p:nvSpPr>
          <p:cNvPr id="5" name="Shape 2"/>
          <p:cNvSpPr/>
          <p:nvPr/>
        </p:nvSpPr>
        <p:spPr>
          <a:xfrm>
            <a:off x="8001000" y="1463040"/>
            <a:ext cx="3566160" cy="4069080"/>
          </a:xfrm>
          <a:prstGeom prst="roundRect">
            <a:avLst>
              <a:gd name="adj" fmla="val 205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8275320" y="1627632"/>
            <a:ext cx="3017520" cy="365760"/>
          </a:xfrm>
          <a:prstGeom prst="rect">
            <a:avLst/>
          </a:prstGeom>
          <a:noFill/>
          <a:ln/>
        </p:spPr>
        <p:txBody>
          <a:bodyPr wrap="square" lIns="0" tIns="0" rIns="0" bIns="0" rtlCol="0" anchor="ctr"/>
          <a:lstStyle/>
          <a:p>
            <a:pPr indent="0" marL="0">
              <a:buNone/>
            </a:pPr>
            <a:r>
              <a:rPr lang="en-US" sz="1600" b="1" dirty="0">
                <a:solidFill>
                  <a:srgbClr val="E8703A"/>
                </a:solidFill>
                <a:latin typeface="Cambria" pitchFamily="34" charset="0"/>
                <a:ea typeface="Cambria" pitchFamily="34" charset="-122"/>
                <a:cs typeface="Cambria" pitchFamily="34" charset="-120"/>
              </a:rPr>
              <a:t>One model, two verdicts</a:t>
            </a:r>
            <a:endParaRPr lang="en-US" sz="1600" dirty="0"/>
          </a:p>
        </p:txBody>
      </p:sp>
      <p:sp>
        <p:nvSpPr>
          <p:cNvPr id="7" name="Text 4"/>
          <p:cNvSpPr txBox="1"/>
          <p:nvPr/>
        </p:nvSpPr>
        <p:spPr>
          <a:xfrm>
            <a:off x="8275320" y="2103120"/>
            <a:ext cx="3017520" cy="32918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Price space: R² 0.99938, MAPE 1.560%, “98.44% accurate”.</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Return space: R² +0.00013. Thirteen thousandths of one percent.</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Naive persistence ties it to three decimals, because prices barely move day to day.</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A Random Forest on raw price levels scores R² 0.993 and is significantly worse than naive (DM p = 0.000), because trees cannot extrapolate.</a:t>
            </a:r>
            <a:endParaRPr lang="en-US" sz="1250" dirty="0"/>
          </a:p>
        </p:txBody>
      </p:sp>
      <p:sp>
        <p:nvSpPr>
          <p:cNvPr id="8" name="Shape 5"/>
          <p:cNvSpPr/>
          <p:nvPr/>
        </p:nvSpPr>
        <p:spPr>
          <a:xfrm>
            <a:off x="640080" y="5742432"/>
            <a:ext cx="10908792" cy="658368"/>
          </a:xfrm>
          <a:prstGeom prst="roundRect">
            <a:avLst>
              <a:gd name="adj" fmla="val 8333"/>
            </a:avLst>
          </a:prstGeom>
          <a:solidFill>
            <a:srgbClr val="E8703A"/>
          </a:solidFill>
          <a:ln w="12700">
            <a:solidFill>
              <a:srgbClr val="E8703A"/>
            </a:solidFill>
            <a:prstDash val="solid"/>
          </a:ln>
        </p:spPr>
      </p:sp>
      <p:sp>
        <p:nvSpPr>
          <p:cNvPr id="9" name="Text 6"/>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Price-level accuracy measures the price, not the forecast. Any paper quoting 98% without a naive baseline has reported nothing.</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RQ1 — FINDING 2</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Return-space skill, against proper baselines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241280" cy="914400"/>
        </p:xfrm>
        <a:graphic>
          <a:graphicData uri="http://schemas.openxmlformats.org/drawingml/2006/table">
            <a:tbl>
              <a:tblPr/>
              <a:tblGrid>
                <a:gridCol w="3291840"/>
                <a:gridCol w="1371600"/>
                <a:gridCol w="1554480"/>
                <a:gridCol w="1280160"/>
                <a:gridCol w="1371600"/>
                <a:gridCol w="1371600"/>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RMSE (bp)</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 vs zero</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IC</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DM p</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r>
              <a:tr h="402336">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Naive (tomorrow = today)</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245.5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0.00000</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47.16%</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402336">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Historical drift</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245.5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+0.00043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52.84%</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0.635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Ridge regression</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246.9</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−0.01076</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+0.0019</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51.70%</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0.392</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402336">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Random Forest on price levels</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250.4</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−0.03972</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+0.0063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50.85%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0.000</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Random Forest (proposed)</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245.5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+0.00013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+0.0090</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51.77%</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0.968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402336">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Always the majority direction</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52.84%</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4526280"/>
            <a:ext cx="5120640" cy="1051560"/>
          </a:xfrm>
          <a:prstGeom prst="roundRect">
            <a:avLst>
              <a:gd name="adj" fmla="val 695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868680" y="4617720"/>
            <a:ext cx="4663440" cy="2743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What the columns mean</a:t>
            </a:r>
            <a:endParaRPr lang="en-US" sz="1350" dirty="0"/>
          </a:p>
        </p:txBody>
      </p:sp>
      <p:sp>
        <p:nvSpPr>
          <p:cNvPr id="7" name="Text 4"/>
          <p:cNvSpPr txBox="1"/>
          <p:nvPr/>
        </p:nvSpPr>
        <p:spPr>
          <a:xfrm>
            <a:off x="868680" y="4892040"/>
            <a:ext cx="4663440" cy="64008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R² vs zero: 0 = no better than forecasting no move.  IC: daily cross-sectional correlation with the outcome.  DM p: Diebold–Mariano test of whether the error really is smaller.</a:t>
            </a:r>
            <a:endParaRPr lang="en-US" sz="1150" dirty="0"/>
          </a:p>
        </p:txBody>
      </p:sp>
      <p:sp>
        <p:nvSpPr>
          <p:cNvPr id="8" name="Shape 5"/>
          <p:cNvSpPr/>
          <p:nvPr/>
        </p:nvSpPr>
        <p:spPr>
          <a:xfrm>
            <a:off x="5989320" y="4526280"/>
            <a:ext cx="4892040" cy="1051560"/>
          </a:xfrm>
          <a:prstGeom prst="roundRect">
            <a:avLst>
              <a:gd name="adj" fmla="val 6957"/>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9" name="Text 6"/>
          <p:cNvSpPr txBox="1"/>
          <p:nvPr/>
        </p:nvSpPr>
        <p:spPr>
          <a:xfrm>
            <a:off x="6217920" y="4617720"/>
            <a:ext cx="4480560" cy="274320"/>
          </a:xfrm>
          <a:prstGeom prst="rect">
            <a:avLst/>
          </a:prstGeom>
          <a:noFill/>
          <a:ln/>
        </p:spPr>
        <p:txBody>
          <a:bodyPr wrap="square" lIns="0" tIns="0" rIns="0" bIns="0" rtlCol="0" anchor="ctr"/>
          <a:lstStyle/>
          <a:p>
            <a:pPr indent="0" marL="0">
              <a:buNone/>
            </a:pPr>
            <a:r>
              <a:rPr lang="en-US" sz="1350" b="1" dirty="0">
                <a:solidFill>
                  <a:srgbClr val="E8703A"/>
                </a:solidFill>
                <a:latin typeface="Cambria" pitchFamily="34" charset="0"/>
                <a:ea typeface="Cambria" pitchFamily="34" charset="-122"/>
                <a:cs typeface="Cambria" pitchFamily="34" charset="-120"/>
              </a:rPr>
              <a:t>Read honestly</a:t>
            </a:r>
            <a:endParaRPr lang="en-US" sz="1350" dirty="0"/>
          </a:p>
        </p:txBody>
      </p:sp>
      <p:sp>
        <p:nvSpPr>
          <p:cNvPr id="10" name="Text 7"/>
          <p:cNvSpPr txBox="1"/>
          <p:nvPr/>
        </p:nvSpPr>
        <p:spPr>
          <a:xfrm>
            <a:off x="6217920" y="4892040"/>
            <a:ext cx="4480560" cy="64008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IC +0.0090 has t = 1.39, so it is not distinguishable from zero. Direction 51.77% is below the 52.84% you get by always guessing the majority. On an average day a stock moves 245.5 bp; our forecasts vary by 9.7 bp.</a:t>
            </a:r>
            <a:endParaRPr lang="en-US" sz="1150" dirty="0"/>
          </a:p>
        </p:txBody>
      </p:sp>
      <p:sp>
        <p:nvSpPr>
          <p:cNvPr id="11" name="Shape 8"/>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12" name="Text 9"/>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Near-zero skill is the honest answer, and reporting it is what makes everything after this slide credible.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RQ1 — FINDING 3</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little skill there is, is not spread evenly</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241280" cy="914400"/>
        </p:xfrm>
        <a:graphic>
          <a:graphicData uri="http://schemas.openxmlformats.org/drawingml/2006/table">
            <a:tbl>
              <a:tblPr/>
              <a:tblGrid>
                <a:gridCol w="2103120"/>
                <a:gridCol w="1463040"/>
                <a:gridCol w="1554480"/>
                <a:gridCol w="1280160"/>
                <a:gridCol w="1280160"/>
                <a:gridCol w="109728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Regime</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Stock-days</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 vs zero</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IC</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DM p</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Long-short</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Pre-COVID bull</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134,982</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+0.00069</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+0.0148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53.03%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0.865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+6.9 bp</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COVID crash</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10,901</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−0.01171</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−0.0732</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34.68%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0.127</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−119.0 bp</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Recovery</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212,824</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+0.00665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+0.0076</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51.65%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0.043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+16.1 bp</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2022 bear</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46,838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−0.00113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+0.0180</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52.68%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0.913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+5.6 bp</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3520440"/>
            <a:ext cx="5120640" cy="2057400"/>
          </a:xfrm>
          <a:prstGeom prst="roundRect">
            <a:avLst>
              <a:gd name="adj" fmla="val 355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914400" y="3657600"/>
            <a:ext cx="4572000" cy="365760"/>
          </a:xfrm>
          <a:prstGeom prst="rect">
            <a:avLst/>
          </a:prstGeom>
          <a:noFill/>
          <a:ln/>
        </p:spPr>
        <p:txBody>
          <a:bodyPr wrap="square" lIns="0" tIns="0" rIns="0" bIns="0" rtlCol="0" anchor="ctr"/>
          <a:lstStyle/>
          <a:p>
            <a:pPr indent="0" marL="0">
              <a:buNone/>
            </a:pPr>
            <a:r>
              <a:rPr lang="en-US" sz="1600" b="1" dirty="0">
                <a:solidFill>
                  <a:srgbClr val="2E7D63"/>
                </a:solidFill>
                <a:latin typeface="Cambria" pitchFamily="34" charset="0"/>
                <a:ea typeface="Cambria" pitchFamily="34" charset="-122"/>
                <a:cs typeface="Cambria" pitchFamily="34" charset="-120"/>
              </a:rPr>
              <a:t>One period of real skill</a:t>
            </a:r>
            <a:endParaRPr lang="en-US" sz="1600" dirty="0"/>
          </a:p>
        </p:txBody>
      </p:sp>
      <p:sp>
        <p:nvSpPr>
          <p:cNvPr id="7" name="Text 4"/>
          <p:cNvSpPr txBox="1"/>
          <p:nvPr/>
        </p:nvSpPr>
        <p:spPr>
          <a:xfrm>
            <a:off x="914400" y="4069080"/>
            <a:ext cx="4572000" cy="13716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The Recovery is the only regime where the Diebold–Mariano test is significant, p = 0.043.</a:t>
            </a:r>
            <a:endParaRPr lang="en-US" sz="1300" dirty="0"/>
          </a:p>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R² +0.00665 there, fifty times the overall figure, and +16.1 bp a day long-short.</a:t>
            </a:r>
            <a:endParaRPr lang="en-US" sz="1300" dirty="0"/>
          </a:p>
        </p:txBody>
      </p:sp>
      <p:sp>
        <p:nvSpPr>
          <p:cNvPr id="8" name="Shape 5"/>
          <p:cNvSpPr/>
          <p:nvPr/>
        </p:nvSpPr>
        <p:spPr>
          <a:xfrm>
            <a:off x="5989320" y="3520440"/>
            <a:ext cx="4892040" cy="2057400"/>
          </a:xfrm>
          <a:prstGeom prst="roundRect">
            <a:avLst>
              <a:gd name="adj" fmla="val 3556"/>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9" name="Text 6"/>
          <p:cNvSpPr txBox="1"/>
          <p:nvPr/>
        </p:nvSpPr>
        <p:spPr>
          <a:xfrm>
            <a:off x="6263640" y="3657600"/>
            <a:ext cx="4389120" cy="365760"/>
          </a:xfrm>
          <a:prstGeom prst="rect">
            <a:avLst/>
          </a:prstGeom>
          <a:noFill/>
          <a:ln/>
        </p:spPr>
        <p:txBody>
          <a:bodyPr wrap="square" lIns="0" tIns="0" rIns="0" bIns="0" rtlCol="0" anchor="ctr"/>
          <a:lstStyle/>
          <a:p>
            <a:pPr indent="0" marL="0">
              <a:buNone/>
            </a:pPr>
            <a:r>
              <a:rPr lang="en-US" sz="1600" b="1" dirty="0">
                <a:solidFill>
                  <a:srgbClr val="E8703A"/>
                </a:solidFill>
                <a:latin typeface="Cambria" pitchFamily="34" charset="0"/>
                <a:ea typeface="Cambria" pitchFamily="34" charset="-122"/>
                <a:cs typeface="Cambria" pitchFamily="34" charset="-120"/>
              </a:rPr>
              <a:t>And one period where it inverted</a:t>
            </a:r>
            <a:endParaRPr lang="en-US" sz="1600" dirty="0"/>
          </a:p>
        </p:txBody>
      </p:sp>
      <p:sp>
        <p:nvSpPr>
          <p:cNvPr id="10" name="Text 7"/>
          <p:cNvSpPr txBox="1"/>
          <p:nvPr/>
        </p:nvSpPr>
        <p:spPr>
          <a:xfrm>
            <a:off x="6263640" y="4069080"/>
            <a:ext cx="4389120" cy="13716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In the COVID crash the IC went negative and direction accuracy fell to 34.68% — worse than a coin.</a:t>
            </a:r>
            <a:endParaRPr lang="en-US" sz="1300" dirty="0"/>
          </a:p>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The long-short lost 119 bp a day. The relationship it had learned reversed sign exactly when it mattered most.</a:t>
            </a:r>
            <a:endParaRPr lang="en-US" sz="1300" dirty="0"/>
          </a:p>
        </p:txBody>
      </p:sp>
      <p:sp>
        <p:nvSpPr>
          <p:cNvPr id="11" name="Shape 8"/>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12" name="Text 9"/>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An average over a decade hides both of these. Regime-level reporting is not optional in finance.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RQ1 — FINDING 4</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Would the ranking make money? No.</a:t>
            </a:r>
            <a:endParaRPr lang="en-US" sz="3000" dirty="0"/>
          </a:p>
        </p:txBody>
      </p:sp>
      <p:pic>
        <p:nvPicPr>
          <p:cNvPr id="4" name="Image 0" descr="/Users/abish/Downloads/StockRF-XAI/results/figures/decile_portfolio.png">    </p:cNvPr>
          <p:cNvPicPr>
            <a:picLocks noChangeAspect="1"/>
          </p:cNvPicPr>
          <p:nvPr/>
        </p:nvPicPr>
        <p:blipFill>
          <a:blip r:embed="rId1"/>
          <a:stretch>
            <a:fillRect/>
          </a:stretch>
        </p:blipFill>
        <p:spPr>
          <a:xfrm>
            <a:off x="640080" y="1508760"/>
            <a:ext cx="6035040" cy="3639312"/>
          </a:xfrm>
          <a:prstGeom prst="rect">
            <a:avLst/>
          </a:prstGeom>
        </p:spPr>
      </p:pic>
      <p:sp>
        <p:nvSpPr>
          <p:cNvPr id="5" name="Shape 2"/>
          <p:cNvSpPr/>
          <p:nvPr/>
        </p:nvSpPr>
        <p:spPr>
          <a:xfrm>
            <a:off x="7223760" y="1508760"/>
            <a:ext cx="4343400" cy="3639312"/>
          </a:xfrm>
          <a:prstGeom prst="roundRect">
            <a:avLst>
              <a:gd name="adj" fmla="val 2010"/>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7498080" y="1664208"/>
            <a:ext cx="37490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trading test</a:t>
            </a:r>
            <a:endParaRPr lang="en-US" sz="1600" dirty="0"/>
          </a:p>
        </p:txBody>
      </p:sp>
      <p:sp>
        <p:nvSpPr>
          <p:cNvPr id="7" name="Text 4"/>
          <p:cNvSpPr txBox="1"/>
          <p:nvPr/>
        </p:nvSpPr>
        <p:spPr>
          <a:xfrm>
            <a:off x="7498080" y="2148840"/>
            <a:ext cx="3749040" cy="28346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Sort each day's stocks into 10 buckets by predicted return, hold the extremes.</a:t>
            </a:r>
            <a:endParaRPr lang="en-US" sz="1300" dirty="0"/>
          </a:p>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The ranking does slope the right way: +1.3 bp in the bottom bucket to +9.5 bp in the top, Spearman 0.745.</a:t>
            </a:r>
            <a:endParaRPr lang="en-US" sz="1300" dirty="0"/>
          </a:p>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Long-short spread +8.17 bp/day, annual Sharpe 0.83.</a:t>
            </a:r>
            <a:endParaRPr lang="en-US" sz="1300" dirty="0"/>
          </a:p>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But t = 1.54, so not significant — and after a realistic 10 bp round-trip cost it is −1.83 bp/day.</a:t>
            </a:r>
            <a:endParaRPr lang="en-US" sz="1300" dirty="0"/>
          </a:p>
        </p:txBody>
      </p:sp>
      <p:sp>
        <p:nvSpPr>
          <p:cNvPr id="8" name="Shape 5"/>
          <p:cNvSpPr/>
          <p:nvPr/>
        </p:nvSpPr>
        <p:spPr>
          <a:xfrm>
            <a:off x="640080" y="5742432"/>
            <a:ext cx="10908792" cy="658368"/>
          </a:xfrm>
          <a:prstGeom prst="roundRect">
            <a:avLst>
              <a:gd name="adj" fmla="val 8333"/>
            </a:avLst>
          </a:prstGeom>
          <a:solidFill>
            <a:srgbClr val="E8703A"/>
          </a:solidFill>
          <a:ln w="12700">
            <a:solidFill>
              <a:srgbClr val="E8703A"/>
            </a:solidFill>
            <a:prstDash val="solid"/>
          </a:ln>
        </p:spPr>
      </p:sp>
      <p:sp>
        <p:nvSpPr>
          <p:cNvPr id="9" name="Text 6"/>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Monotone, plausible, and still not tradeable once you pay for the trades. This is where most strategy papers stop looking.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RQ2</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the model actually uses</a:t>
            </a:r>
            <a:endParaRPr lang="en-US" sz="3000" dirty="0"/>
          </a:p>
        </p:txBody>
      </p:sp>
      <p:pic>
        <p:nvPicPr>
          <p:cNvPr id="4" name="Image 0" descr="/Users/abish/Downloads/StockRF-XAI/results/figures/shap_global.png">    </p:cNvPr>
          <p:cNvPicPr>
            <a:picLocks noChangeAspect="1"/>
          </p:cNvPicPr>
          <p:nvPr/>
        </p:nvPicPr>
        <p:blipFill>
          <a:blip r:embed="rId1"/>
          <a:stretch>
            <a:fillRect/>
          </a:stretch>
        </p:blipFill>
        <p:spPr>
          <a:xfrm>
            <a:off x="640080" y="1463040"/>
            <a:ext cx="5486400" cy="3822192"/>
          </a:xfrm>
          <a:prstGeom prst="rect">
            <a:avLst/>
          </a:prstGeom>
        </p:spPr>
      </p:pic>
      <p:sp>
        <p:nvSpPr>
          <p:cNvPr id="5" name="Shape 2"/>
          <p:cNvSpPr/>
          <p:nvPr/>
        </p:nvSpPr>
        <p:spPr>
          <a:xfrm>
            <a:off x="6675120" y="1463040"/>
            <a:ext cx="4892040" cy="1828800"/>
          </a:xfrm>
          <a:prstGeom prst="roundRect">
            <a:avLst>
              <a:gd name="adj" fmla="val 4000"/>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6949440" y="1600200"/>
            <a:ext cx="438912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Top features, mean |SHAP| in bp</a:t>
            </a:r>
            <a:endParaRPr lang="en-US" sz="1500" dirty="0"/>
          </a:p>
        </p:txBody>
      </p:sp>
      <p:sp>
        <p:nvSpPr>
          <p:cNvPr id="7" name="Text 4"/>
          <p:cNvSpPr txBox="1"/>
          <p:nvPr/>
        </p:nvSpPr>
        <p:spPr>
          <a:xfrm>
            <a:off x="6949440" y="1993392"/>
            <a:ext cx="4389120" cy="1188720"/>
          </a:xfrm>
          <a:prstGeom prst="rect">
            <a:avLst/>
          </a:prstGeom>
          <a:noFill/>
          <a:ln/>
        </p:spPr>
        <p:txBody>
          <a:bodyPr wrap="square" lIns="0" tIns="0" rIns="0" bIns="0" rtlCol="0" anchor="ctr"/>
          <a:lstStyle/>
          <a:p>
            <a:pPr indent="0" marL="0">
              <a:lnSpc>
                <a:spcPts val="1600"/>
              </a:lnSpc>
              <a:buNone/>
            </a:pPr>
            <a:r>
              <a:rPr lang="en-US" sz="1150" dirty="0">
                <a:solidFill>
                  <a:srgbClr val="26324A"/>
                </a:solidFill>
                <a:latin typeface="Consolas" pitchFamily="34" charset="0"/>
                <a:ea typeface="Consolas" pitchFamily="34" charset="-122"/>
                <a:cs typeface="Consolas" pitchFamily="34" charset="-120"/>
              </a:rPr>
              <a:t>mkt_vol_20d  5.37    market volatility, 20 days</a:t>
            </a:r>
            <a:endParaRPr lang="en-US" sz="1150" dirty="0"/>
          </a:p>
          <a:p>
            <a:pPr indent="0" marL="0">
              <a:lnSpc>
                <a:spcPts val="1600"/>
              </a:lnSpc>
              <a:buNone/>
            </a:pPr>
            <a:r>
              <a:rPr lang="en-US" sz="1150" dirty="0">
                <a:solidFill>
                  <a:srgbClr val="26324A"/>
                </a:solidFill>
                <a:latin typeface="Consolas" pitchFamily="34" charset="0"/>
                <a:ea typeface="Consolas" pitchFamily="34" charset="-122"/>
                <a:cs typeface="Consolas" pitchFamily="34" charset="-120"/>
              </a:rPr>
              <a:t>mkt_ret_5d   3.33    the market's last week</a:t>
            </a:r>
            <a:endParaRPr lang="en-US" sz="1150" dirty="0"/>
          </a:p>
          <a:p>
            <a:pPr indent="0" marL="0">
              <a:lnSpc>
                <a:spcPts val="1600"/>
              </a:lnSpc>
              <a:buNone/>
            </a:pPr>
            <a:r>
              <a:rPr lang="en-US" sz="1150" dirty="0">
                <a:solidFill>
                  <a:srgbClr val="26324A"/>
                </a:solidFill>
                <a:latin typeface="Consolas" pitchFamily="34" charset="0"/>
                <a:ea typeface="Consolas" pitchFamily="34" charset="-122"/>
                <a:cs typeface="Consolas" pitchFamily="34" charset="-120"/>
              </a:rPr>
              <a:t>mkt_ret_1d   3.28    the market yesterday</a:t>
            </a:r>
            <a:endParaRPr lang="en-US" sz="1150" dirty="0"/>
          </a:p>
          <a:p>
            <a:pPr indent="0" marL="0">
              <a:lnSpc>
                <a:spcPts val="1600"/>
              </a:lnSpc>
              <a:buNone/>
            </a:pPr>
            <a:r>
              <a:rPr lang="en-US" sz="1150" dirty="0">
                <a:solidFill>
                  <a:srgbClr val="26324A"/>
                </a:solidFill>
                <a:latin typeface="Consolas" pitchFamily="34" charset="0"/>
                <a:ea typeface="Consolas" pitchFamily="34" charset="-122"/>
                <a:cs typeface="Consolas" pitchFamily="34" charset="-120"/>
              </a:rPr>
              <a:t>gap_open     0.77    this stock's gap at the open</a:t>
            </a:r>
            <a:endParaRPr lang="en-US" sz="1150" dirty="0"/>
          </a:p>
          <a:p>
            <a:pPr indent="0" marL="0">
              <a:lnSpc>
                <a:spcPts val="1600"/>
              </a:lnSpc>
              <a:buNone/>
            </a:pPr>
            <a:r>
              <a:rPr lang="en-US" sz="1150" dirty="0">
                <a:solidFill>
                  <a:srgbClr val="26324A"/>
                </a:solidFill>
                <a:latin typeface="Consolas" pitchFamily="34" charset="0"/>
                <a:ea typeface="Consolas" pitchFamily="34" charset="-122"/>
                <a:cs typeface="Consolas" pitchFamily="34" charset="-120"/>
              </a:rPr>
              <a:t>ret_1d       0.57    this stock yesterday</a:t>
            </a:r>
            <a:endParaRPr lang="en-US" sz="1150" dirty="0"/>
          </a:p>
        </p:txBody>
      </p:sp>
      <p:sp>
        <p:nvSpPr>
          <p:cNvPr id="8" name="Shape 5"/>
          <p:cNvSpPr/>
          <p:nvPr/>
        </p:nvSpPr>
        <p:spPr>
          <a:xfrm>
            <a:off x="6675120" y="3429000"/>
            <a:ext cx="4892040" cy="1856232"/>
          </a:xfrm>
          <a:prstGeom prst="roundRect">
            <a:avLst>
              <a:gd name="adj" fmla="val 3941"/>
            </a:avLst>
          </a:prstGeom>
          <a:solidFill>
            <a:srgbClr val="1E2761"/>
          </a:solidFill>
          <a:ln w="12700">
            <a:solidFill>
              <a:srgbClr val="1E2761"/>
            </a:solidFill>
            <a:prstDash val="solid"/>
          </a:ln>
          <a:effectLst>
            <a:outerShdw sx="100000" sy="100000" kx="0" ky="0" algn="bl" rotWithShape="0" blurRad="101600" dist="12700" dir="5400000">
              <a:srgbClr val="9AA7BD">
                <a:alpha val="22000"/>
              </a:srgbClr>
            </a:outerShdw>
          </a:effectLst>
        </p:spPr>
      </p:sp>
      <p:sp>
        <p:nvSpPr>
          <p:cNvPr id="9" name="Text 6"/>
          <p:cNvSpPr txBox="1"/>
          <p:nvPr/>
        </p:nvSpPr>
        <p:spPr>
          <a:xfrm>
            <a:off x="6949440" y="3566160"/>
            <a:ext cx="43891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Attribution by family</a:t>
            </a:r>
            <a:endParaRPr lang="en-US" sz="1500" dirty="0"/>
          </a:p>
        </p:txBody>
      </p:sp>
      <p:sp>
        <p:nvSpPr>
          <p:cNvPr id="10" name="Text 7"/>
          <p:cNvSpPr txBox="1"/>
          <p:nvPr/>
        </p:nvSpPr>
        <p:spPr>
          <a:xfrm>
            <a:off x="6949440" y="3950208"/>
            <a:ext cx="4389120" cy="1188720"/>
          </a:xfrm>
          <a:prstGeom prst="rect">
            <a:avLst/>
          </a:prstGeom>
          <a:noFill/>
          <a:ln/>
        </p:spPr>
        <p:txBody>
          <a:bodyPr wrap="square" lIns="0" tIns="0" rIns="0" bIns="0" rtlCol="0" anchor="ctr"/>
          <a:lstStyle/>
          <a:p>
            <a:pPr indent="0" marL="0">
              <a:lnSpc>
                <a:spcPts val="2000"/>
              </a:lnSpc>
              <a:buNone/>
            </a:pPr>
            <a:r>
              <a:rPr lang="en-US" sz="1350" dirty="0">
                <a:solidFill>
                  <a:srgbClr val="CADCFC"/>
                </a:solidFill>
                <a:latin typeface="Calibri" pitchFamily="34" charset="0"/>
                <a:ea typeface="Calibri" pitchFamily="34" charset="-122"/>
                <a:cs typeface="Calibri" pitchFamily="34" charset="-120"/>
              </a:rPr>
              <a:t>Market &amp; sector  72.2%</a:t>
            </a:r>
            <a:endParaRPr lang="en-US" sz="1350" dirty="0"/>
          </a:p>
          <a:p>
            <a:pPr indent="0" marL="0">
              <a:lnSpc>
                <a:spcPts val="2000"/>
              </a:lnSpc>
              <a:buNone/>
            </a:pPr>
            <a:r>
              <a:rPr lang="en-US" sz="1350" dirty="0">
                <a:solidFill>
                  <a:srgbClr val="CADCFC"/>
                </a:solidFill>
                <a:latin typeface="Calibri" pitchFamily="34" charset="0"/>
                <a:ea typeface="Calibri" pitchFamily="34" charset="-122"/>
                <a:cs typeface="Calibri" pitchFamily="34" charset="-120"/>
              </a:rPr>
              <a:t>Volatility 7.6%   Past returns 7.0%   Candle 5.9%</a:t>
            </a:r>
            <a:endParaRPr lang="en-US" sz="1350" dirty="0"/>
          </a:p>
          <a:p>
            <a:pPr indent="0" marL="0">
              <a:lnSpc>
                <a:spcPts val="2000"/>
              </a:lnSpc>
              <a:buNone/>
            </a:pPr>
            <a:r>
              <a:rPr lang="en-US" sz="1350" dirty="0">
                <a:solidFill>
                  <a:srgbClr val="CADCFC"/>
                </a:solidFill>
                <a:latin typeface="Calibri" pitchFamily="34" charset="0"/>
                <a:ea typeface="Calibri" pitchFamily="34" charset="-122"/>
                <a:cs typeface="Calibri" pitchFamily="34" charset="-120"/>
              </a:rPr>
              <a:t>Trend 3.8%   Oscillators 2.0%   Volume 1.5%</a:t>
            </a:r>
            <a:endParaRPr lang="en-US" sz="1350" dirty="0"/>
          </a:p>
        </p:txBody>
      </p:sp>
      <p:sp>
        <p:nvSpPr>
          <p:cNvPr id="11" name="Shape 8"/>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12" name="Text 9"/>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Nearly three quarters of the model is about the market, not the stock — which is true, and says nothing about which stock to buy.</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RQ3 — FAITHFULNESS</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Delete what the explanation called important</a:t>
            </a:r>
            <a:endParaRPr lang="en-US" sz="3000" dirty="0"/>
          </a:p>
        </p:txBody>
      </p:sp>
      <p:pic>
        <p:nvPicPr>
          <p:cNvPr id="4" name="Image 0" descr="/Users/abish/Downloads/StockRF-XAI/results/figures/faithfulness.png">    </p:cNvPr>
          <p:cNvPicPr>
            <a:picLocks noChangeAspect="1"/>
          </p:cNvPicPr>
          <p:nvPr/>
        </p:nvPicPr>
        <p:blipFill>
          <a:blip r:embed="rId1"/>
          <a:stretch>
            <a:fillRect/>
          </a:stretch>
        </p:blipFill>
        <p:spPr>
          <a:xfrm>
            <a:off x="640080" y="1481328"/>
            <a:ext cx="6172200" cy="3995928"/>
          </a:xfrm>
          <a:prstGeom prst="rect">
            <a:avLst/>
          </a:prstGeom>
        </p:spPr>
      </p:pic>
      <p:sp>
        <p:nvSpPr>
          <p:cNvPr id="5" name="Shape 2"/>
          <p:cNvSpPr/>
          <p:nvPr/>
        </p:nvSpPr>
        <p:spPr>
          <a:xfrm>
            <a:off x="7315200" y="1481328"/>
            <a:ext cx="4251960" cy="3995928"/>
          </a:xfrm>
          <a:prstGeom prst="roundRect">
            <a:avLst>
              <a:gd name="adj" fmla="val 183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7589520" y="1609344"/>
            <a:ext cx="374904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test</a:t>
            </a:r>
            <a:endParaRPr lang="en-US" sz="1600" dirty="0"/>
          </a:p>
        </p:txBody>
      </p:sp>
      <p:sp>
        <p:nvSpPr>
          <p:cNvPr id="7" name="Text 4"/>
          <p:cNvSpPr txBox="1"/>
          <p:nvPr/>
        </p:nvSpPr>
        <p:spPr>
          <a:xfrm>
            <a:off x="7589520" y="1993392"/>
            <a:ext cx="3749040" cy="128016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Replace the top-|SHAP| features with values from 32 background rows; measure how far the forecast moves.</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Compare against deleting features in random order. 2,000 stock-days.</a:t>
            </a:r>
            <a:endParaRPr lang="en-US" sz="1250" dirty="0"/>
          </a:p>
        </p:txBody>
      </p:sp>
      <p:sp>
        <p:nvSpPr>
          <p:cNvPr id="8" name="Text 5"/>
          <p:cNvSpPr txBox="1"/>
          <p:nvPr/>
        </p:nvSpPr>
        <p:spPr>
          <a:xfrm>
            <a:off x="7589520" y="3429000"/>
            <a:ext cx="3749040" cy="1828800"/>
          </a:xfrm>
          <a:prstGeom prst="rect">
            <a:avLst/>
          </a:prstGeom>
          <a:noFill/>
          <a:ln/>
        </p:spPr>
        <p:txBody>
          <a:bodyPr wrap="square" lIns="0" tIns="0" rIns="0" bIns="0" rtlCol="0" anchor="ctr"/>
          <a:lstStyle/>
          <a:p>
            <a:pPr indent="0" marL="0">
              <a:lnSpc>
                <a:spcPts val="1600"/>
              </a:lnSpc>
              <a:buNone/>
            </a:pPr>
            <a:r>
              <a:rPr lang="en-US" sz="1100" dirty="0">
                <a:solidFill>
                  <a:srgbClr val="26324A"/>
                </a:solidFill>
                <a:latin typeface="Consolas" pitchFamily="34" charset="0"/>
                <a:ea typeface="Consolas" pitchFamily="34" charset="-122"/>
                <a:cs typeface="Consolas" pitchFamily="34" charset="-120"/>
              </a:rPr>
              <a:t>AOPC   8.51 bp  by |SHAP| rank</a:t>
            </a:r>
            <a:endParaRPr lang="en-US" sz="1100" dirty="0"/>
          </a:p>
          <a:p>
            <a:pPr indent="0" marL="0">
              <a:lnSpc>
                <a:spcPts val="1600"/>
              </a:lnSpc>
              <a:buNone/>
            </a:pPr>
            <a:r>
              <a:rPr lang="en-US" sz="1100" dirty="0">
                <a:solidFill>
                  <a:srgbClr val="26324A"/>
                </a:solidFill>
                <a:latin typeface="Consolas" pitchFamily="34" charset="0"/>
                <a:ea typeface="Consolas" pitchFamily="34" charset="-122"/>
                <a:cs typeface="Consolas" pitchFamily="34" charset="-120"/>
              </a:rPr>
              <a:t>       3.67 bp  random order</a:t>
            </a:r>
            <a:endParaRPr lang="en-US" sz="1100" dirty="0"/>
          </a:p>
          <a:p>
            <a:pPr indent="0" marL="0">
              <a:lnSpc>
                <a:spcPts val="1600"/>
              </a:lnSpc>
              <a:buNone/>
            </a:pPr>
            <a:r>
              <a:rPr lang="en-US" sz="1100" dirty="0">
                <a:solidFill>
                  <a:srgbClr val="26324A"/>
                </a:solidFill>
                <a:latin typeface="Consolas" pitchFamily="34" charset="0"/>
                <a:ea typeface="Consolas" pitchFamily="34" charset="-122"/>
                <a:cs typeface="Consolas" pitchFamily="34" charset="-120"/>
              </a:rPr>
              <a:t>       = 2.3x</a:t>
            </a:r>
            <a:endParaRPr lang="en-US" sz="1100" dirty="0"/>
          </a:p>
          <a:p>
            <a:pPr indent="0" marL="0">
              <a:lnSpc>
                <a:spcPts val="1600"/>
              </a:lnSpc>
              <a:buNone/>
            </a:pPr>
            <a:endParaRPr lang="en-US" sz="1100" dirty="0"/>
          </a:p>
          <a:p>
            <a:pPr indent="0" marL="0">
              <a:lnSpc>
                <a:spcPts val="1600"/>
              </a:lnSpc>
              <a:buNone/>
            </a:pPr>
            <a:r>
              <a:rPr lang="en-US" sz="1100" dirty="0">
                <a:solidFill>
                  <a:srgbClr val="26324A"/>
                </a:solidFill>
                <a:latin typeface="Consolas" pitchFamily="34" charset="0"/>
                <a:ea typeface="Consolas" pitchFamily="34" charset="-122"/>
                <a:cs typeface="Consolas" pitchFamily="34" charset="-120"/>
              </a:rPr>
              <a:t>k = 1  8.70 bp vs 0.65 bp = 13x</a:t>
            </a:r>
            <a:endParaRPr lang="en-US" sz="1100" dirty="0"/>
          </a:p>
          <a:p>
            <a:pPr indent="0" marL="0">
              <a:lnSpc>
                <a:spcPts val="1600"/>
              </a:lnSpc>
              <a:buNone/>
            </a:pPr>
            <a:endParaRPr lang="en-US" sz="1100" dirty="0"/>
          </a:p>
          <a:p>
            <a:pPr indent="0" marL="0">
              <a:lnSpc>
                <a:spcPts val="1600"/>
              </a:lnSpc>
              <a:buNone/>
            </a:pPr>
            <a:r>
              <a:rPr lang="en-US" sz="1100" dirty="0">
                <a:solidFill>
                  <a:srgbClr val="26324A"/>
                </a:solidFill>
                <a:latin typeface="Consolas" pitchFamily="34" charset="0"/>
                <a:ea typeface="Consolas" pitchFamily="34" charset="-122"/>
                <a:cs typeface="Consolas" pitchFamily="34" charset="-120"/>
              </a:rPr>
              <a:t>fidelity correlation 0.984 → 1.000</a:t>
            </a:r>
            <a:endParaRPr lang="en-US" sz="1100" dirty="0"/>
          </a:p>
        </p:txBody>
      </p:sp>
      <p:sp>
        <p:nvSpPr>
          <p:cNvPr id="9" name="Shape 6"/>
          <p:cNvSpPr/>
          <p:nvPr/>
        </p:nvSpPr>
        <p:spPr>
          <a:xfrm>
            <a:off x="640080" y="5742432"/>
            <a:ext cx="10908792" cy="658368"/>
          </a:xfrm>
          <a:prstGeom prst="roundRect">
            <a:avLst>
              <a:gd name="adj" fmla="val 8333"/>
            </a:avLst>
          </a:prstGeom>
          <a:solidFill>
            <a:srgbClr val="2E7D63"/>
          </a:solidFill>
          <a:ln w="12700">
            <a:solidFill>
              <a:srgbClr val="2E7D63"/>
            </a:solidFill>
            <a:prstDash val="solid"/>
          </a:ln>
        </p:spPr>
      </p:sp>
      <p:sp>
        <p:nvSpPr>
          <p:cNvPr id="10" name="Text 7"/>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SHAP passes. The single feature it names moves the forecast 13× more than a random one, and its numbers predict the move almost exactly.</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RQ3 — STABILITY</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Re-run it, retrain it, does the story hold?</a:t>
            </a:r>
            <a:endParaRPr lang="en-US" sz="3000" dirty="0"/>
          </a:p>
        </p:txBody>
      </p:sp>
      <p:pic>
        <p:nvPicPr>
          <p:cNvPr id="4" name="Image 0" descr="/Users/abish/Downloads/StockRF-XAI/results/figures/stability_sanity.png">    </p:cNvPr>
          <p:cNvPicPr>
            <a:picLocks noChangeAspect="1"/>
          </p:cNvPicPr>
          <p:nvPr/>
        </p:nvPicPr>
        <p:blipFill>
          <a:blip r:embed="rId1"/>
          <a:stretch>
            <a:fillRect/>
          </a:stretch>
        </p:blipFill>
        <p:spPr>
          <a:xfrm>
            <a:off x="640080" y="1554480"/>
            <a:ext cx="6766560" cy="2679192"/>
          </a:xfrm>
          <a:prstGeom prst="rect">
            <a:avLst/>
          </a:prstGeom>
        </p:spPr>
      </p:pic>
      <p:sp>
        <p:nvSpPr>
          <p:cNvPr id="5" name="Shape 2"/>
          <p:cNvSpPr/>
          <p:nvPr/>
        </p:nvSpPr>
        <p:spPr>
          <a:xfrm>
            <a:off x="7863840" y="1554480"/>
            <a:ext cx="3703320" cy="3931920"/>
          </a:xfrm>
          <a:prstGeom prst="roundRect">
            <a:avLst>
              <a:gd name="adj" fmla="val 1975"/>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8138160" y="1691640"/>
            <a:ext cx="3200400" cy="320040"/>
          </a:xfrm>
          <a:prstGeom prst="rect">
            <a:avLst/>
          </a:prstGeom>
          <a:noFill/>
          <a:ln/>
        </p:spPr>
        <p:txBody>
          <a:bodyPr wrap="square" lIns="0" tIns="0" rIns="0" bIns="0" rtlCol="0" anchor="ctr"/>
          <a:lstStyle/>
          <a:p>
            <a:pPr indent="0" marL="0">
              <a:buNone/>
            </a:pPr>
            <a:r>
              <a:rPr lang="en-US" sz="1500" b="1" dirty="0">
                <a:solidFill>
                  <a:srgbClr val="2E7D63"/>
                </a:solidFill>
                <a:latin typeface="Cambria" pitchFamily="34" charset="0"/>
                <a:ea typeface="Cambria" pitchFamily="34" charset="-122"/>
                <a:cs typeface="Cambria" pitchFamily="34" charset="-120"/>
              </a:rPr>
              <a:t>Across 5 random seeds</a:t>
            </a:r>
            <a:endParaRPr lang="en-US" sz="1500" dirty="0"/>
          </a:p>
        </p:txBody>
      </p:sp>
      <p:sp>
        <p:nvSpPr>
          <p:cNvPr id="7" name="Text 4"/>
          <p:cNvSpPr txBox="1"/>
          <p:nvPr/>
        </p:nvSpPr>
        <p:spPr>
          <a:xfrm>
            <a:off x="8138160" y="2057400"/>
            <a:ext cx="3200400" cy="822960"/>
          </a:xfrm>
          <a:prstGeom prst="rect">
            <a:avLst/>
          </a:prstGeom>
          <a:noFill/>
          <a:ln/>
        </p:spPr>
        <p:txBody>
          <a:bodyPr wrap="square" lIns="0" tIns="0" rIns="0" bIns="0" rtlCol="0" anchor="ctr"/>
          <a:lstStyle/>
          <a:p>
            <a:pPr indent="0" marL="0">
              <a:lnSpc>
                <a:spcPts val="1500"/>
              </a:lnSpc>
              <a:buNone/>
            </a:pPr>
            <a:r>
              <a:rPr lang="en-US" sz="1100" dirty="0">
                <a:solidFill>
                  <a:srgbClr val="26324A"/>
                </a:solidFill>
                <a:latin typeface="Consolas" pitchFamily="34" charset="0"/>
                <a:ea typeface="Consolas" pitchFamily="34" charset="-122"/>
                <a:cs typeface="Consolas" pitchFamily="34" charset="-120"/>
              </a:rPr>
              <a:t>Kendall τ 0.85    top-5 overlap 0.92</a:t>
            </a:r>
            <a:endParaRPr lang="en-US" sz="1100" dirty="0"/>
          </a:p>
          <a:p>
            <a:pPr indent="0" marL="0">
              <a:lnSpc>
                <a:spcPts val="1500"/>
              </a:lnSpc>
              <a:buNone/>
            </a:pPr>
            <a:r>
              <a:rPr lang="en-US" sz="1100" dirty="0">
                <a:solidFill>
                  <a:srgbClr val="26324A"/>
                </a:solidFill>
                <a:latin typeface="Consolas" pitchFamily="34" charset="0"/>
                <a:ea typeface="Consolas" pitchFamily="34" charset="-122"/>
                <a:cs typeface="Consolas" pitchFamily="34" charset="-120"/>
              </a:rPr>
              <a:t>per-row Spearman 0.86</a:t>
            </a:r>
            <a:endParaRPr lang="en-US" sz="1100" dirty="0"/>
          </a:p>
          <a:p>
            <a:pPr indent="0" marL="0">
              <a:lnSpc>
                <a:spcPts val="1500"/>
              </a:lnSpc>
              <a:buNone/>
            </a:pPr>
            <a:r>
              <a:rPr lang="en-US" sz="1100" dirty="0">
                <a:solidFill>
                  <a:srgbClr val="26324A"/>
                </a:solidFill>
                <a:latin typeface="Consolas" pitchFamily="34" charset="0"/>
                <a:ea typeface="Consolas" pitchFamily="34" charset="-122"/>
                <a:cs typeface="Consolas" pitchFamily="34" charset="-120"/>
              </a:rPr>
              <a:t>prediction correlation 0.990</a:t>
            </a:r>
            <a:endParaRPr lang="en-US" sz="1100" dirty="0"/>
          </a:p>
        </p:txBody>
      </p:sp>
      <p:sp>
        <p:nvSpPr>
          <p:cNvPr id="8" name="Text 5"/>
          <p:cNvSpPr txBox="1"/>
          <p:nvPr/>
        </p:nvSpPr>
        <p:spPr>
          <a:xfrm>
            <a:off x="8138160" y="2971800"/>
            <a:ext cx="3200400" cy="32004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Across yearly retrains</a:t>
            </a:r>
            <a:endParaRPr lang="en-US" sz="1500" dirty="0"/>
          </a:p>
        </p:txBody>
      </p:sp>
      <p:sp>
        <p:nvSpPr>
          <p:cNvPr id="9" name="Text 6"/>
          <p:cNvSpPr txBox="1"/>
          <p:nvPr/>
        </p:nvSpPr>
        <p:spPr>
          <a:xfrm>
            <a:off x="8138160" y="3337560"/>
            <a:ext cx="3200400" cy="822960"/>
          </a:xfrm>
          <a:prstGeom prst="rect">
            <a:avLst/>
          </a:prstGeom>
          <a:noFill/>
          <a:ln/>
        </p:spPr>
        <p:txBody>
          <a:bodyPr wrap="square" lIns="0" tIns="0" rIns="0" bIns="0" rtlCol="0" anchor="ctr"/>
          <a:lstStyle/>
          <a:p>
            <a:pPr indent="0" marL="0">
              <a:lnSpc>
                <a:spcPts val="1500"/>
              </a:lnSpc>
              <a:buNone/>
            </a:pPr>
            <a:r>
              <a:rPr lang="en-US" sz="1100" dirty="0">
                <a:solidFill>
                  <a:srgbClr val="26324A"/>
                </a:solidFill>
                <a:latin typeface="Consolas" pitchFamily="34" charset="0"/>
                <a:ea typeface="Consolas" pitchFamily="34" charset="-122"/>
                <a:cs typeface="Consolas" pitchFamily="34" charset="-120"/>
              </a:rPr>
              <a:t>2019 vs 2020   τ 0.75</a:t>
            </a:r>
            <a:endParaRPr lang="en-US" sz="1100" dirty="0"/>
          </a:p>
          <a:p>
            <a:pPr indent="0" marL="0">
              <a:lnSpc>
                <a:spcPts val="1500"/>
              </a:lnSpc>
              <a:buNone/>
            </a:pPr>
            <a:r>
              <a:rPr lang="en-US" sz="1100" dirty="0">
                <a:solidFill>
                  <a:srgbClr val="26324A"/>
                </a:solidFill>
                <a:latin typeface="Consolas" pitchFamily="34" charset="0"/>
                <a:ea typeface="Consolas" pitchFamily="34" charset="-122"/>
                <a:cs typeface="Consolas" pitchFamily="34" charset="-120"/>
              </a:rPr>
              <a:t>2020 vs 2021   τ 0.44</a:t>
            </a:r>
            <a:endParaRPr lang="en-US" sz="1100" dirty="0"/>
          </a:p>
          <a:p>
            <a:pPr indent="0" marL="0">
              <a:lnSpc>
                <a:spcPts val="1500"/>
              </a:lnSpc>
              <a:buNone/>
            </a:pPr>
            <a:r>
              <a:rPr lang="en-US" sz="1100" dirty="0">
                <a:solidFill>
                  <a:srgbClr val="26324A"/>
                </a:solidFill>
                <a:latin typeface="Consolas" pitchFamily="34" charset="0"/>
                <a:ea typeface="Consolas" pitchFamily="34" charset="-122"/>
                <a:cs typeface="Consolas" pitchFamily="34" charset="-120"/>
              </a:rPr>
              <a:t>2021 vs 2022   τ 0.77</a:t>
            </a:r>
            <a:endParaRPr lang="en-US" sz="1100" dirty="0"/>
          </a:p>
        </p:txBody>
      </p:sp>
      <p:sp>
        <p:nvSpPr>
          <p:cNvPr id="10" name="Text 7"/>
          <p:cNvSpPr txBox="1"/>
          <p:nvPr/>
        </p:nvSpPr>
        <p:spPr>
          <a:xfrm>
            <a:off x="8138160" y="4251960"/>
            <a:ext cx="3200400" cy="1097280"/>
          </a:xfrm>
          <a:prstGeom prst="rect">
            <a:avLst/>
          </a:prstGeom>
          <a:noFill/>
          <a:ln/>
        </p:spPr>
        <p:txBody>
          <a:bodyPr wrap="square" lIns="0" tIns="0" rIns="0" bIns="0" rtlCol="0" anchor="ctr"/>
          <a:lstStyle/>
          <a:p>
            <a:pPr indent="0" marL="0">
              <a:lnSpc>
                <a:spcPts val="1600"/>
              </a:lnSpc>
              <a:buNone/>
            </a:pPr>
            <a:r>
              <a:rPr lang="en-US" sz="1200" dirty="0">
                <a:solidFill>
                  <a:srgbClr val="26324A"/>
                </a:solidFill>
                <a:latin typeface="Calibri" pitchFamily="34" charset="0"/>
                <a:ea typeface="Calibri" pitchFamily="34" charset="-122"/>
                <a:cs typeface="Calibri" pitchFamily="34" charset="-120"/>
              </a:rPr>
              <a:t>TreeSHAP itself is deterministic: re-running it on the same model gives bit-identical numbers, so all of this instability belongs to the model, not the explainer.</a:t>
            </a:r>
            <a:endParaRPr lang="en-US" sz="1200" dirty="0"/>
          </a:p>
        </p:txBody>
      </p:sp>
      <p:sp>
        <p:nvSpPr>
          <p:cNvPr id="11" name="Shape 8"/>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12" name="Text 9"/>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Stable across seeds, shakier across retrains — and the weakest link, 2020 vs 2021, is exactly the COVID regime shift.</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RQ5 — THE SHARPEST TEST</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Explain a model that provably knows nothing</a:t>
            </a:r>
            <a:endParaRPr lang="en-US" sz="3000" dirty="0"/>
          </a:p>
        </p:txBody>
      </p:sp>
      <p:sp>
        <p:nvSpPr>
          <p:cNvPr id="4" name="Text 2"/>
          <p:cNvSpPr txBox="1"/>
          <p:nvPr/>
        </p:nvSpPr>
        <p:spPr>
          <a:xfrm>
            <a:off x="640080" y="1463040"/>
            <a:ext cx="10908792" cy="457200"/>
          </a:xfrm>
          <a:prstGeom prst="rect">
            <a:avLst/>
          </a:prstGeom>
          <a:noFill/>
          <a:ln/>
        </p:spPr>
        <p:txBody>
          <a:bodyPr wrap="square" lIns="0" tIns="0" rIns="0" bIns="0" rtlCol="0" anchor="ctr"/>
          <a:lstStyle/>
          <a:p>
            <a:pPr indent="0" marL="0">
              <a:buNone/>
            </a:pPr>
            <a:r>
              <a:rPr lang="en-US" sz="1450" i="1" dirty="0">
                <a:solidFill>
                  <a:srgbClr val="5A6472"/>
                </a:solidFill>
                <a:latin typeface="Calibri" pitchFamily="34" charset="0"/>
                <a:ea typeface="Calibri" pitchFamily="34" charset="-122"/>
                <a:cs typeface="Calibri" pitchFamily="34" charset="-120"/>
              </a:rPr>
              <a:t>Train a forest on shuffled labels, then explain it. If the nonsense model's explanation resembles the real one, the explanation was describing the shape of the features, not anything learned.</a:t>
            </a:r>
            <a:endParaRPr lang="en-US" sz="1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515600" cy="914400"/>
        </p:xfrm>
        <a:graphic>
          <a:graphicData uri="http://schemas.openxmlformats.org/drawingml/2006/table">
            <a:tbl>
              <a:tblPr/>
              <a:tblGrid>
                <a:gridCol w="3566160"/>
                <a:gridCol w="1463040"/>
                <a:gridCol w="2011680"/>
                <a:gridCol w="1554480"/>
                <a:gridCol w="19202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τ vs real</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Total |SHAP| (bp)</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IC</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Prediction sd (bp)</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1E2761"/>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Real model</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20.85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+0.018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9.65</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Labels fully shuffled</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0.13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2.59</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−0.023</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0.88</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6324A"/>
                          </a:solidFill>
                          <a:latin typeface="Calibri" pitchFamily="34" charset="0"/>
                          <a:ea typeface="Calibri" pitchFamily="34" charset="-122"/>
                          <a:cs typeface="Calibri" pitchFamily="34" charset="-120"/>
                        </a:rPr>
                        <a:t>Returns shuffled within each day</a:t>
                      </a:r>
                      <a:endParaRPr lang="en-US" sz="1200" dirty="0">
                        <a:latin typeface="Calibri" charset="0"/>
                        <a:ea typeface="Calibri" charset="0"/>
                        <a:cs typeface="Calibri"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0.56</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19.54</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+0.011</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c>
                  <a:txBody>
                    <a:bodyPr/>
                    <a:lstStyle/>
                    <a:p>
                      <a:pPr algn="ctr" indent="0" marL="0">
                        <a:buNone/>
                      </a:pPr>
                      <a:r>
                        <a:rPr lang="en-US" sz="1200" dirty="0">
                          <a:solidFill>
                            <a:srgbClr val="26324A"/>
                          </a:solidFill>
                          <a:latin typeface="Consolas" pitchFamily="34" charset="0"/>
                          <a:ea typeface="Consolas" pitchFamily="34" charset="-122"/>
                          <a:cs typeface="Consolas" pitchFamily="34" charset="-120"/>
                        </a:rPr>
                        <a:t>9.62</a:t>
                      </a:r>
                      <a:endParaRPr lang="en-US" sz="1200" dirty="0">
                        <a:latin typeface="Consolas" charset="0"/>
                        <a:ea typeface="Consolas" charset="0"/>
                        <a:cs typeface="Consolas" charset="0"/>
                      </a:endParaRPr>
                    </a:p>
                  </a:txBody>
                  <a:tcPr marL="91440" marR="91440" marT="45720" marB="45720" anchor="ctr">
                    <a:lnL w="12700" cap="flat" cmpd="sng" algn="ctr">
                      <a:solidFill>
                        <a:srgbClr val="DCE4F2"/>
                      </a:solidFill>
                      <a:prstDash val="solid"/>
                      <a:round/>
                      <a:headEnd type="none" w="med" len="med"/>
                      <a:tailEnd type="none" w="med" len="med"/>
                    </a:lnL>
                    <a:lnR w="12700" cap="flat" cmpd="sng" algn="ctr">
                      <a:solidFill>
                        <a:srgbClr val="DCE4F2"/>
                      </a:solidFill>
                      <a:prstDash val="solid"/>
                      <a:round/>
                      <a:headEnd type="none" w="med" len="med"/>
                      <a:tailEnd type="none" w="med" len="med"/>
                    </a:lnR>
                    <a:lnT w="12700" cap="flat" cmpd="sng" algn="ctr">
                      <a:solidFill>
                        <a:srgbClr val="DCE4F2"/>
                      </a:solidFill>
                      <a:prstDash val="solid"/>
                      <a:round/>
                      <a:headEnd type="none" w="med" len="med"/>
                      <a:tailEnd type="none" w="med" len="med"/>
                    </a:lnT>
                    <a:lnB w="12700" cap="flat" cmpd="sng" algn="ctr">
                      <a:solidFill>
                        <a:srgbClr val="DCE4F2"/>
                      </a:solidFill>
                      <a:prstDash val="solid"/>
                      <a:round/>
                      <a:headEnd type="none" w="med" len="med"/>
                      <a:tailEnd type="none" w="med" len="med"/>
                    </a:lnB>
                    <a:solidFill>
                      <a:srgbClr val="F4F7FC"/>
                    </a:solidFill>
                  </a:tcPr>
                </a:tc>
              </a:tr>
            </a:tbl>
          </a:graphicData>
        </a:graphic>
      </p:graphicFrame>
      <p:sp>
        <p:nvSpPr>
          <p:cNvPr id="6" name="Shape 3"/>
          <p:cNvSpPr/>
          <p:nvPr/>
        </p:nvSpPr>
        <p:spPr>
          <a:xfrm>
            <a:off x="640080" y="3611880"/>
            <a:ext cx="5120640" cy="1965960"/>
          </a:xfrm>
          <a:prstGeom prst="roundRect">
            <a:avLst>
              <a:gd name="adj" fmla="val 3721"/>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7" name="Text 4"/>
          <p:cNvSpPr txBox="1"/>
          <p:nvPr/>
        </p:nvSpPr>
        <p:spPr>
          <a:xfrm>
            <a:off x="914400" y="3749040"/>
            <a:ext cx="4572000" cy="320040"/>
          </a:xfrm>
          <a:prstGeom prst="rect">
            <a:avLst/>
          </a:prstGeom>
          <a:noFill/>
          <a:ln/>
        </p:spPr>
        <p:txBody>
          <a:bodyPr wrap="square" lIns="0" tIns="0" rIns="0" bIns="0" rtlCol="0" anchor="ctr"/>
          <a:lstStyle/>
          <a:p>
            <a:pPr indent="0" marL="0">
              <a:buNone/>
            </a:pPr>
            <a:r>
              <a:rPr lang="en-US" sz="1550" b="1" dirty="0">
                <a:solidFill>
                  <a:srgbClr val="2E7D63"/>
                </a:solidFill>
                <a:latin typeface="Cambria" pitchFamily="34" charset="0"/>
                <a:ea typeface="Cambria" pitchFamily="34" charset="-122"/>
                <a:cs typeface="Cambria" pitchFamily="34" charset="-120"/>
              </a:rPr>
              <a:t>The reassuring half</a:t>
            </a:r>
            <a:endParaRPr lang="en-US" sz="1550" dirty="0"/>
          </a:p>
        </p:txBody>
      </p:sp>
      <p:sp>
        <p:nvSpPr>
          <p:cNvPr id="8" name="Text 5"/>
          <p:cNvSpPr txBox="1"/>
          <p:nvPr/>
        </p:nvSpPr>
        <p:spPr>
          <a:xfrm>
            <a:off x="914400" y="4114800"/>
            <a:ext cx="4572000" cy="13716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The fully shuffled model is correctly exposed: τ 0.13, and its attribution collapses from 20.85 bp to 2.59 bp.</a:t>
            </a:r>
            <a:endParaRPr lang="en-US" sz="1300" dirty="0"/>
          </a:p>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SHAP is not inventing structure out of noise.</a:t>
            </a:r>
            <a:endParaRPr lang="en-US" sz="1300" dirty="0"/>
          </a:p>
        </p:txBody>
      </p:sp>
      <p:sp>
        <p:nvSpPr>
          <p:cNvPr id="9" name="Shape 6"/>
          <p:cNvSpPr/>
          <p:nvPr/>
        </p:nvSpPr>
        <p:spPr>
          <a:xfrm>
            <a:off x="5989320" y="3611880"/>
            <a:ext cx="4892040" cy="1965960"/>
          </a:xfrm>
          <a:prstGeom prst="roundRect">
            <a:avLst>
              <a:gd name="adj" fmla="val 3721"/>
            </a:avLst>
          </a:prstGeom>
          <a:solidFill>
            <a:srgbClr val="1E2761"/>
          </a:solidFill>
          <a:ln w="12700">
            <a:solidFill>
              <a:srgbClr val="1E2761"/>
            </a:solidFill>
            <a:prstDash val="solid"/>
          </a:ln>
          <a:effectLst>
            <a:outerShdw sx="100000" sy="100000" kx="0" ky="0" algn="bl" rotWithShape="0" blurRad="101600" dist="12700" dir="5400000">
              <a:srgbClr val="9AA7BD">
                <a:alpha val="22000"/>
              </a:srgbClr>
            </a:outerShdw>
          </a:effectLst>
        </p:spPr>
      </p:sp>
      <p:sp>
        <p:nvSpPr>
          <p:cNvPr id="10" name="Text 7"/>
          <p:cNvSpPr txBox="1"/>
          <p:nvPr/>
        </p:nvSpPr>
        <p:spPr>
          <a:xfrm>
            <a:off x="6263640" y="3749040"/>
            <a:ext cx="4389120" cy="320040"/>
          </a:xfrm>
          <a:prstGeom prst="rect">
            <a:avLst/>
          </a:prstGeom>
          <a:noFill/>
          <a:ln/>
        </p:spPr>
        <p:txBody>
          <a:bodyPr wrap="square" lIns="0" tIns="0" rIns="0" bIns="0" rtlCol="0" anchor="ctr"/>
          <a:lstStyle/>
          <a:p>
            <a:pPr indent="0" marL="0">
              <a:buNone/>
            </a:pPr>
            <a:r>
              <a:rPr lang="en-US" sz="1550" b="1" dirty="0">
                <a:solidFill>
                  <a:srgbClr val="E8703A"/>
                </a:solidFill>
                <a:latin typeface="Cambria" pitchFamily="34" charset="0"/>
                <a:ea typeface="Cambria" pitchFamily="34" charset="-122"/>
                <a:cs typeface="Cambria" pitchFamily="34" charset="-120"/>
              </a:rPr>
              <a:t>The uncomfortable half</a:t>
            </a:r>
            <a:endParaRPr lang="en-US" sz="1550" dirty="0"/>
          </a:p>
        </p:txBody>
      </p:sp>
      <p:sp>
        <p:nvSpPr>
          <p:cNvPr id="11" name="Text 8"/>
          <p:cNvSpPr txBox="1"/>
          <p:nvPr/>
        </p:nvSpPr>
        <p:spPr>
          <a:xfrm>
            <a:off x="6263640" y="4114800"/>
            <a:ext cx="4389120" cy="1371600"/>
          </a:xfrm>
          <a:prstGeom prst="rect">
            <a:avLst/>
          </a:prstGeom>
          <a:noFill/>
          <a:ln/>
        </p:spPr>
        <p:txBody>
          <a:bodyPr wrap="square" lIns="0" tIns="0" rIns="0" bIns="0" rtlCol="0" anchor="ctr"/>
          <a:lstStyle/>
          <a:p>
            <a:pPr indent="0" marL="0">
              <a:lnSpc>
                <a:spcPts val="1800"/>
              </a:lnSpc>
              <a:buNone/>
            </a:pPr>
            <a:r>
              <a:rPr lang="en-US" sz="1300" dirty="0">
                <a:solidFill>
                  <a:srgbClr val="CADCFC"/>
                </a:solidFill>
                <a:latin typeface="Calibri" pitchFamily="34" charset="0"/>
                <a:ea typeface="Calibri" pitchFamily="34" charset="-122"/>
                <a:cs typeface="Calibri" pitchFamily="34" charset="-120"/>
              </a:rPr>
              <a:t>Shuffling returns within each day keeps the market-wide move and destroys all stock-specific information. That model still produces 19.54 bp of attribution and matches the real explanation at τ 0.56 with 80% top-5 overlap.</a:t>
            </a:r>
            <a:endParaRPr lang="en-US" sz="1300" dirty="0"/>
          </a:p>
        </p:txBody>
      </p:sp>
      <p:sp>
        <p:nvSpPr>
          <p:cNvPr id="12" name="Shape 9"/>
          <p:cNvSpPr/>
          <p:nvPr/>
        </p:nvSpPr>
        <p:spPr>
          <a:xfrm>
            <a:off x="640080" y="5742432"/>
            <a:ext cx="10908792" cy="658368"/>
          </a:xfrm>
          <a:prstGeom prst="roundRect">
            <a:avLst>
              <a:gd name="adj" fmla="val 8333"/>
            </a:avLst>
          </a:prstGeom>
          <a:solidFill>
            <a:srgbClr val="E8703A"/>
          </a:solidFill>
          <a:ln w="12700">
            <a:solidFill>
              <a:srgbClr val="E8703A"/>
            </a:solidFill>
            <a:prstDash val="solid"/>
          </a:ln>
        </p:spPr>
      </p:sp>
      <p:sp>
        <p:nvSpPr>
          <p:cNvPr id="13" name="Text 10"/>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That is not a failure of SHAP — it is proof of what the model learned: the market factor, which the shuffle leaves intact.</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RQ4</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explanation drifts — and we tested it properly</a:t>
            </a:r>
            <a:endParaRPr lang="en-US" sz="3000" dirty="0"/>
          </a:p>
        </p:txBody>
      </p:sp>
      <p:pic>
        <p:nvPicPr>
          <p:cNvPr id="4" name="Image 0" descr="/Users/abish/Downloads/StockRF-XAI/results/figures/regime_family_shares.png">    </p:cNvPr>
          <p:cNvPicPr>
            <a:picLocks noChangeAspect="1"/>
          </p:cNvPicPr>
          <p:nvPr/>
        </p:nvPicPr>
        <p:blipFill>
          <a:blip r:embed="rId1"/>
          <a:stretch>
            <a:fillRect/>
          </a:stretch>
        </p:blipFill>
        <p:spPr>
          <a:xfrm>
            <a:off x="640080" y="1508760"/>
            <a:ext cx="6675120" cy="2532888"/>
          </a:xfrm>
          <a:prstGeom prst="rect">
            <a:avLst/>
          </a:prstGeom>
        </p:spPr>
      </p:pic>
      <p:sp>
        <p:nvSpPr>
          <p:cNvPr id="5" name="Shape 2"/>
          <p:cNvSpPr/>
          <p:nvPr/>
        </p:nvSpPr>
        <p:spPr>
          <a:xfrm>
            <a:off x="7863840" y="1508760"/>
            <a:ext cx="3703320" cy="4023360"/>
          </a:xfrm>
          <a:prstGeom prst="roundRect">
            <a:avLst>
              <a:gd name="adj" fmla="val 1975"/>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8138160" y="1645920"/>
            <a:ext cx="320040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Permutation test</a:t>
            </a:r>
            <a:endParaRPr lang="en-US" sz="1600" dirty="0"/>
          </a:p>
        </p:txBody>
      </p:sp>
      <p:sp>
        <p:nvSpPr>
          <p:cNvPr id="7" name="Text 4"/>
          <p:cNvSpPr txBox="1"/>
          <p:nvPr/>
        </p:nvSpPr>
        <p:spPr>
          <a:xfrm>
            <a:off x="8138160" y="2029968"/>
            <a:ext cx="3200400" cy="14630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Statistic: mean pairwise total variation distance between family-share vectors.</a:t>
            </a:r>
            <a:endParaRPr lang="en-US" sz="1250" dirty="0"/>
          </a:p>
          <a:p>
            <a:pPr marL="342900" indent="-342900">
              <a:lnSpc>
                <a:spcPts val="1900"/>
              </a:lnSpc>
              <a:spcAft>
                <a:spcPts val="800"/>
              </a:spcAft>
              <a:buSzPct val="100000"/>
              <a:buChar char="•"/>
            </a:pPr>
            <a:r>
              <a:rPr lang="en-US" sz="1250" dirty="0">
                <a:solidFill>
                  <a:srgbClr val="26324A"/>
                </a:solidFill>
                <a:latin typeface="Calibri" pitchFamily="34" charset="0"/>
                <a:ea typeface="Calibri" pitchFamily="34" charset="-122"/>
                <a:cs typeface="Calibri" pitchFamily="34" charset="-120"/>
              </a:rPr>
              <a:t>Null: shuffle group labels 1,000 times by whole day (regimes) or whole ticker (sectors), so dependence inside a day is kept.</a:t>
            </a:r>
            <a:endParaRPr lang="en-US" sz="1250" dirty="0"/>
          </a:p>
        </p:txBody>
      </p:sp>
      <p:sp>
        <p:nvSpPr>
          <p:cNvPr id="8" name="Text 5"/>
          <p:cNvSpPr txBox="1"/>
          <p:nvPr/>
        </p:nvSpPr>
        <p:spPr>
          <a:xfrm>
            <a:off x="8138160" y="3584448"/>
            <a:ext cx="3200400" cy="822960"/>
          </a:xfrm>
          <a:prstGeom prst="rect">
            <a:avLst/>
          </a:prstGeom>
          <a:noFill/>
          <a:ln/>
        </p:spPr>
        <p:txBody>
          <a:bodyPr wrap="square" lIns="0" tIns="0" rIns="0" bIns="0" rtlCol="0" anchor="ctr"/>
          <a:lstStyle/>
          <a:p>
            <a:pPr indent="0" marL="0">
              <a:lnSpc>
                <a:spcPts val="1500"/>
              </a:lnSpc>
              <a:buNone/>
            </a:pPr>
            <a:r>
              <a:rPr lang="en-US" sz="1000" dirty="0">
                <a:solidFill>
                  <a:srgbClr val="26324A"/>
                </a:solidFill>
                <a:latin typeface="Consolas" pitchFamily="34" charset="0"/>
                <a:ea typeface="Consolas" pitchFamily="34" charset="-122"/>
                <a:cs typeface="Consolas" pitchFamily="34" charset="-120"/>
              </a:rPr>
              <a:t>regimes  TVD 0.054  p = 0.003</a:t>
            </a:r>
            <a:endParaRPr lang="en-US" sz="1000" dirty="0"/>
          </a:p>
          <a:p>
            <a:pPr indent="0" marL="0">
              <a:lnSpc>
                <a:spcPts val="1500"/>
              </a:lnSpc>
              <a:buNone/>
            </a:pPr>
            <a:r>
              <a:rPr lang="en-US" sz="1000" dirty="0">
                <a:solidFill>
                  <a:srgbClr val="26324A"/>
                </a:solidFill>
                <a:latin typeface="Consolas" pitchFamily="34" charset="0"/>
                <a:ea typeface="Consolas" pitchFamily="34" charset="-122"/>
                <a:cs typeface="Consolas" pitchFamily="34" charset="-120"/>
              </a:rPr>
              <a:t>sectors  TVD 0.036  p = 0.001</a:t>
            </a:r>
            <a:endParaRPr lang="en-US" sz="1000" dirty="0"/>
          </a:p>
          <a:p>
            <a:pPr indent="0" marL="0">
              <a:lnSpc>
                <a:spcPts val="1500"/>
              </a:lnSpc>
              <a:buNone/>
            </a:pPr>
            <a:r>
              <a:rPr lang="en-US" sz="1000" dirty="0">
                <a:solidFill>
                  <a:srgbClr val="26324A"/>
                </a:solidFill>
                <a:latin typeface="Consolas" pitchFamily="34" charset="0"/>
                <a:ea typeface="Consolas" pitchFamily="34" charset="-122"/>
                <a:cs typeface="Consolas" pitchFamily="34" charset="-120"/>
              </a:rPr>
              <a:t>(null TVD 0.017)</a:t>
            </a:r>
            <a:endParaRPr lang="en-US" sz="1000" dirty="0"/>
          </a:p>
        </p:txBody>
      </p:sp>
      <p:sp>
        <p:nvSpPr>
          <p:cNvPr id="9" name="Text 6"/>
          <p:cNvSpPr txBox="1"/>
          <p:nvPr/>
        </p:nvSpPr>
        <p:spPr>
          <a:xfrm>
            <a:off x="8138160" y="4434840"/>
            <a:ext cx="3200400" cy="1005840"/>
          </a:xfrm>
          <a:prstGeom prst="rect">
            <a:avLst/>
          </a:prstGeom>
          <a:noFill/>
          <a:ln/>
        </p:spPr>
        <p:txBody>
          <a:bodyPr wrap="square" lIns="0" tIns="0" rIns="0" bIns="0" rtlCol="0" anchor="ctr"/>
          <a:lstStyle/>
          <a:p>
            <a:pPr indent="0" marL="0">
              <a:lnSpc>
                <a:spcPts val="1700"/>
              </a:lnSpc>
              <a:buNone/>
            </a:pPr>
            <a:r>
              <a:rPr lang="en-US" sz="1250" dirty="0">
                <a:solidFill>
                  <a:srgbClr val="26324A"/>
                </a:solidFill>
                <a:latin typeface="Calibri" pitchFamily="34" charset="0"/>
                <a:ea typeface="Calibri" pitchFamily="34" charset="-122"/>
                <a:cs typeface="Calibri" pitchFamily="34" charset="-120"/>
              </a:rPr>
              <a:t>mkt_vol_20d stays the top feature in all four regimes, so the headline is stable. What sits behind it is not.</a:t>
            </a:r>
            <a:endParaRPr lang="en-US" sz="1250" dirty="0"/>
          </a:p>
        </p:txBody>
      </p:sp>
      <p:sp>
        <p:nvSpPr>
          <p:cNvPr id="10" name="Shape 7"/>
          <p:cNvSpPr/>
          <p:nvPr/>
        </p:nvSpPr>
        <p:spPr>
          <a:xfrm>
            <a:off x="640080" y="5742432"/>
            <a:ext cx="10908792" cy="658368"/>
          </a:xfrm>
          <a:prstGeom prst="roundRect">
            <a:avLst>
              <a:gd name="adj" fmla="val 8333"/>
            </a:avLst>
          </a:prstGeom>
          <a:solidFill>
            <a:srgbClr val="2E7D63"/>
          </a:solidFill>
          <a:ln w="12700">
            <a:solidFill>
              <a:srgbClr val="2E7D63"/>
            </a:solidFill>
            <a:prstDash val="solid"/>
          </a:ln>
        </p:spPr>
      </p:sp>
      <p:sp>
        <p:nvSpPr>
          <p:cNvPr id="11" name="Text 8"/>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Pagliaro (2026) observed this drift descriptively. We put a significance test on it: p = 0.003 for regimes, p = 0.001 for sectors.</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RQ6</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Do SHAP and LIME tell the same story?</a:t>
            </a:r>
            <a:endParaRPr lang="en-US" sz="3000" dirty="0"/>
          </a:p>
        </p:txBody>
      </p:sp>
      <p:pic>
        <p:nvPicPr>
          <p:cNvPr id="4" name="Image 0" descr="/Users/abish/Downloads/StockRF-XAI/results/figures/lime_vs_shap_local.png">    </p:cNvPr>
          <p:cNvPicPr>
            <a:picLocks noChangeAspect="1"/>
          </p:cNvPicPr>
          <p:nvPr/>
        </p:nvPicPr>
        <p:blipFill>
          <a:blip r:embed="rId1"/>
          <a:stretch>
            <a:fillRect/>
          </a:stretch>
        </p:blipFill>
        <p:spPr>
          <a:xfrm>
            <a:off x="640080" y="1463040"/>
            <a:ext cx="6858000" cy="2523744"/>
          </a:xfrm>
          <a:prstGeom prst="rect">
            <a:avLst/>
          </a:prstGeom>
        </p:spPr>
      </p:pic>
      <p:sp>
        <p:nvSpPr>
          <p:cNvPr id="5" name="Shape 2"/>
          <p:cNvSpPr/>
          <p:nvPr/>
        </p:nvSpPr>
        <p:spPr>
          <a:xfrm>
            <a:off x="8046720" y="1463040"/>
            <a:ext cx="3520440" cy="4069080"/>
          </a:xfrm>
          <a:prstGeom prst="roundRect">
            <a:avLst>
              <a:gd name="adj" fmla="val 2078"/>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8321040" y="1600200"/>
            <a:ext cx="3017520" cy="32004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804 stock-days, 5 seeds each</a:t>
            </a:r>
            <a:endParaRPr lang="en-US" sz="1450" dirty="0"/>
          </a:p>
        </p:txBody>
      </p:sp>
      <p:sp>
        <p:nvSpPr>
          <p:cNvPr id="7" name="Text 4"/>
          <p:cNvSpPr txBox="1"/>
          <p:nvPr/>
        </p:nvSpPr>
        <p:spPr>
          <a:xfrm>
            <a:off x="8321040" y="2011680"/>
            <a:ext cx="3017520" cy="3383280"/>
          </a:xfrm>
          <a:prstGeom prst="rect">
            <a:avLst/>
          </a:prstGeom>
          <a:noFill/>
          <a:ln/>
        </p:spPr>
        <p:txBody>
          <a:bodyPr wrap="square" lIns="0" tIns="0" rIns="0" bIns="0" rtlCol="0" anchor="ctr"/>
          <a:lstStyle/>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GLOBAL RANKING</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Kendall τ 0.58   top-5 overlap 0.80</a:t>
            </a:r>
            <a:endParaRPr lang="en-US" sz="1000" dirty="0"/>
          </a:p>
          <a:p>
            <a:pPr indent="0" marL="0">
              <a:lnSpc>
                <a:spcPts val="1400"/>
              </a:lnSpc>
              <a:buNone/>
            </a:pP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THE SAME SINGLE FORECAST</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median Spearman 0.44</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top-5 overlap 0.65</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same top feature 59.1%</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sign agreement 80.7%</a:t>
            </a:r>
            <a:endParaRPr lang="en-US" sz="1000" dirty="0"/>
          </a:p>
          <a:p>
            <a:pPr indent="0" marL="0">
              <a:lnSpc>
                <a:spcPts val="1400"/>
              </a:lnSpc>
              <a:buNone/>
            </a:pP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LIME AGAINST ITSELF</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Spearman 0.45 between its own runs</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same top feature in all 5 runs 95.8%</a:t>
            </a:r>
            <a:endParaRPr lang="en-US" sz="1000" dirty="0"/>
          </a:p>
          <a:p>
            <a:pPr indent="0" marL="0">
              <a:lnSpc>
                <a:spcPts val="1400"/>
              </a:lnSpc>
              <a:buNone/>
            </a:pP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LIME'S OWN SURROGATE R²</a:t>
            </a:r>
            <a:endParaRPr lang="en-US" sz="1000" dirty="0"/>
          </a:p>
          <a:p>
            <a:pPr indent="0" marL="0">
              <a:lnSpc>
                <a:spcPts val="1400"/>
              </a:lnSpc>
              <a:buNone/>
            </a:pPr>
            <a:r>
              <a:rPr lang="en-US" sz="1000" dirty="0">
                <a:solidFill>
                  <a:srgbClr val="26324A"/>
                </a:solidFill>
                <a:latin typeface="Consolas" pitchFamily="34" charset="0"/>
                <a:ea typeface="Consolas" pitchFamily="34" charset="-122"/>
                <a:cs typeface="Consolas" pitchFamily="34" charset="-120"/>
              </a:rPr>
              <a:t>median 0.167   below 0.3 on 67.4%</a:t>
            </a:r>
            <a:endParaRPr lang="en-US" sz="1000" dirty="0"/>
          </a:p>
        </p:txBody>
      </p:sp>
      <p:sp>
        <p:nvSpPr>
          <p:cNvPr id="8" name="Shape 5"/>
          <p:cNvSpPr/>
          <p:nvPr/>
        </p:nvSpPr>
        <p:spPr>
          <a:xfrm>
            <a:off x="640080" y="5742432"/>
            <a:ext cx="10908792" cy="658368"/>
          </a:xfrm>
          <a:prstGeom prst="roundRect">
            <a:avLst>
              <a:gd name="adj" fmla="val 8333"/>
            </a:avLst>
          </a:prstGeom>
          <a:solidFill>
            <a:srgbClr val="E8703A"/>
          </a:solidFill>
          <a:ln w="12700">
            <a:solidFill>
              <a:srgbClr val="E8703A"/>
            </a:solidFill>
            <a:prstDash val="solid"/>
          </a:ln>
        </p:spPr>
      </p:sp>
      <p:sp>
        <p:nvSpPr>
          <p:cNvPr id="9" name="Text 6"/>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Averaged over hundreds of rows they look alike. On 41% of individual forecasts they name a different most-important feature.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RQ6 — A DEFECT FOUND ALONG THE WAY</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LIME was not reproducible, and nobody would have noticed</a:t>
            </a:r>
            <a:endParaRPr lang="en-US" sz="3000" dirty="0"/>
          </a:p>
        </p:txBody>
      </p:sp>
      <p:sp>
        <p:nvSpPr>
          <p:cNvPr id="4" name="Shape 2"/>
          <p:cNvSpPr/>
          <p:nvPr/>
        </p:nvSpPr>
        <p:spPr>
          <a:xfrm>
            <a:off x="640080" y="1554480"/>
            <a:ext cx="5349240" cy="2240280"/>
          </a:xfrm>
          <a:prstGeom prst="roundRect">
            <a:avLst>
              <a:gd name="adj" fmla="val 3265"/>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5" name="Text 3"/>
          <p:cNvSpPr txBox="1"/>
          <p:nvPr/>
        </p:nvSpPr>
        <p:spPr>
          <a:xfrm>
            <a:off x="914400" y="1691640"/>
            <a:ext cx="4754880" cy="320040"/>
          </a:xfrm>
          <a:prstGeom prst="rect">
            <a:avLst/>
          </a:prstGeom>
          <a:noFill/>
          <a:ln/>
        </p:spPr>
        <p:txBody>
          <a:bodyPr wrap="square" lIns="0" tIns="0" rIns="0" bIns="0" rtlCol="0" anchor="ctr"/>
          <a:lstStyle/>
          <a:p>
            <a:pPr indent="0" marL="0">
              <a:buNone/>
            </a:pPr>
            <a:r>
              <a:rPr lang="en-US" sz="1600" b="1" dirty="0">
                <a:solidFill>
                  <a:srgbClr val="E8703A"/>
                </a:solidFill>
                <a:latin typeface="Cambria" pitchFamily="34" charset="0"/>
                <a:ea typeface="Cambria" pitchFamily="34" charset="-122"/>
                <a:cs typeface="Cambria" pitchFamily="34" charset="-120"/>
              </a:rPr>
              <a:t>What was wrong</a:t>
            </a:r>
            <a:endParaRPr lang="en-US" sz="1600" dirty="0"/>
          </a:p>
        </p:txBody>
      </p:sp>
      <p:sp>
        <p:nvSpPr>
          <p:cNvPr id="6" name="Text 4"/>
          <p:cNvSpPr txBox="1"/>
          <p:nvPr/>
        </p:nvSpPr>
        <p:spPr>
          <a:xfrm>
            <a:off x="914400" y="2084832"/>
            <a:ext cx="4754880" cy="15544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LimeTabularExplainer binds its random state into the discretiser and the surrogate solver at construction.</a:t>
            </a:r>
            <a:endParaRPr lang="en-US" sz="1300" dirty="0"/>
          </a:p>
          <a:p>
            <a:pPr marL="342900" indent="-342900">
              <a:lnSpc>
                <a:spcPts val="1900"/>
              </a:lnSpc>
              <a:spcAft>
                <a:spcPts val="800"/>
              </a:spcAft>
              <a:buSzPct val="100000"/>
              <a:buChar char="•"/>
            </a:pPr>
            <a:r>
              <a:rPr lang="en-US" sz="1300" dirty="0">
                <a:solidFill>
                  <a:srgbClr val="26324A"/>
                </a:solidFill>
                <a:latin typeface="Calibri" pitchFamily="34" charset="0"/>
                <a:ea typeface="Calibri" pitchFamily="34" charset="-122"/>
                <a:cs typeface="Calibri" pitchFamily="34" charset="-120"/>
              </a:rPr>
              <a:t>Setting .random_state afterwards — the obvious thing to do — controls only part of the sampling.</a:t>
            </a:r>
            <a:endParaRPr lang="en-US" sz="1300" dirty="0"/>
          </a:p>
        </p:txBody>
      </p:sp>
      <p:sp>
        <p:nvSpPr>
          <p:cNvPr id="7" name="Shape 5"/>
          <p:cNvSpPr/>
          <p:nvPr/>
        </p:nvSpPr>
        <p:spPr>
          <a:xfrm>
            <a:off x="6217920" y="1554480"/>
            <a:ext cx="5669280" cy="2240280"/>
          </a:xfrm>
          <a:prstGeom prst="roundRect">
            <a:avLst>
              <a:gd name="adj" fmla="val 3265"/>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8" name="Text 6"/>
          <p:cNvSpPr txBox="1"/>
          <p:nvPr/>
        </p:nvSpPr>
        <p:spPr>
          <a:xfrm>
            <a:off x="6492240" y="1691640"/>
            <a:ext cx="512064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Measured, three ways</a:t>
            </a:r>
            <a:endParaRPr lang="en-US" sz="1600" dirty="0"/>
          </a:p>
        </p:txBody>
      </p:sp>
      <p:sp>
        <p:nvSpPr>
          <p:cNvPr id="9" name="Text 7"/>
          <p:cNvSpPr txBox="1"/>
          <p:nvPr/>
        </p:nvSpPr>
        <p:spPr>
          <a:xfrm>
            <a:off x="6492240" y="2148840"/>
            <a:ext cx="5120640" cy="1005840"/>
          </a:xfrm>
          <a:prstGeom prst="rect">
            <a:avLst/>
          </a:prstGeom>
          <a:noFill/>
          <a:ln/>
        </p:spPr>
        <p:txBody>
          <a:bodyPr wrap="square" lIns="0" tIns="0" rIns="0" bIns="0" rtlCol="0" anchor="ctr"/>
          <a:lstStyle/>
          <a:p>
            <a:pPr indent="0" marL="0">
              <a:lnSpc>
                <a:spcPts val="1900"/>
              </a:lnSpc>
              <a:buNone/>
            </a:pPr>
            <a:r>
              <a:rPr lang="en-US" sz="1150" dirty="0">
                <a:solidFill>
                  <a:srgbClr val="26324A"/>
                </a:solidFill>
                <a:latin typeface="Consolas" pitchFamily="34" charset="0"/>
                <a:ea typeface="Consolas" pitchFamily="34" charset="-122"/>
                <a:cs typeface="Consolas" pitchFamily="34" charset="-120"/>
              </a:rPr>
              <a:t>reused explainer, same seed   ρ 0.46 – 0.53</a:t>
            </a:r>
            <a:endParaRPr lang="en-US" sz="1150" dirty="0"/>
          </a:p>
          <a:p>
            <a:pPr indent="0" marL="0">
              <a:lnSpc>
                <a:spcPts val="1900"/>
              </a:lnSpc>
              <a:buNone/>
            </a:pPr>
            <a:r>
              <a:rPr lang="en-US" sz="1150" dirty="0">
                <a:solidFill>
                  <a:srgbClr val="26324A"/>
                </a:solidFill>
                <a:latin typeface="Consolas" pitchFamily="34" charset="0"/>
                <a:ea typeface="Consolas" pitchFamily="34" charset="-122"/>
                <a:cs typeface="Consolas" pitchFamily="34" charset="-120"/>
              </a:rPr>
              <a:t>fresh explainer, same seed     ρ 1.000  identical</a:t>
            </a:r>
            <a:endParaRPr lang="en-US" sz="1150" dirty="0"/>
          </a:p>
          <a:p>
            <a:pPr indent="0" marL="0">
              <a:lnSpc>
                <a:spcPts val="1900"/>
              </a:lnSpc>
              <a:buNone/>
            </a:pPr>
            <a:r>
              <a:rPr lang="en-US" sz="1150" dirty="0">
                <a:solidFill>
                  <a:srgbClr val="26324A"/>
                </a:solidFill>
                <a:latin typeface="Consolas" pitchFamily="34" charset="0"/>
                <a:ea typeface="Consolas" pitchFamily="34" charset="-122"/>
                <a:cs typeface="Consolas" pitchFamily="34" charset="-120"/>
              </a:rPr>
              <a:t>fresh explainer, different seeds ρ 0.16 – 0.31</a:t>
            </a:r>
            <a:endParaRPr lang="en-US" sz="1150" dirty="0"/>
          </a:p>
        </p:txBody>
      </p:sp>
      <p:sp>
        <p:nvSpPr>
          <p:cNvPr id="10" name="Text 8"/>
          <p:cNvSpPr txBox="1"/>
          <p:nvPr/>
        </p:nvSpPr>
        <p:spPr>
          <a:xfrm>
            <a:off x="6492240" y="3200400"/>
            <a:ext cx="5120640" cy="365760"/>
          </a:xfrm>
          <a:prstGeom prst="rect">
            <a:avLst/>
          </a:prstGeom>
          <a:noFill/>
          <a:ln/>
        </p:spPr>
        <p:txBody>
          <a:bodyPr wrap="square" lIns="0" tIns="0" rIns="0" bIns="0"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Fix: construct one explainer per seed. Costs 18 ms.</a:t>
            </a:r>
            <a:endParaRPr lang="en-US" sz="1300" dirty="0"/>
          </a:p>
        </p:txBody>
      </p:sp>
      <p:sp>
        <p:nvSpPr>
          <p:cNvPr id="11" name="Shape 9"/>
          <p:cNvSpPr/>
          <p:nvPr/>
        </p:nvSpPr>
        <p:spPr>
          <a:xfrm>
            <a:off x="640080" y="3931920"/>
            <a:ext cx="10908792" cy="1600200"/>
          </a:xfrm>
          <a:prstGeom prst="roundRect">
            <a:avLst>
              <a:gd name="adj" fmla="val 4571"/>
            </a:avLst>
          </a:prstGeom>
          <a:solidFill>
            <a:srgbClr val="1E2761"/>
          </a:solidFill>
          <a:ln w="12700">
            <a:solidFill>
              <a:srgbClr val="1E2761"/>
            </a:solidFill>
            <a:prstDash val="solid"/>
          </a:ln>
          <a:effectLst>
            <a:outerShdw sx="100000" sy="100000" kx="0" ky="0" algn="bl" rotWithShape="0" blurRad="101600" dist="12700" dir="5400000">
              <a:srgbClr val="9AA7BD">
                <a:alpha val="22000"/>
              </a:srgbClr>
            </a:outerShdw>
          </a:effectLst>
        </p:spPr>
      </p:sp>
      <p:sp>
        <p:nvSpPr>
          <p:cNvPr id="12" name="Text 10"/>
          <p:cNvSpPr txBox="1"/>
          <p:nvPr/>
        </p:nvSpPr>
        <p:spPr>
          <a:xfrm>
            <a:off x="960120" y="4096512"/>
            <a:ext cx="4572000" cy="320040"/>
          </a:xfrm>
          <a:prstGeom prst="rect">
            <a:avLst/>
          </a:prstGeom>
          <a:noFill/>
          <a:ln/>
        </p:spPr>
        <p:txBody>
          <a:bodyPr wrap="square" lIns="0" tIns="0" rIns="0" bIns="0" rtlCol="0" anchor="ctr"/>
          <a:lstStyle/>
          <a:p>
            <a:pPr indent="0" marL="0">
              <a:buNone/>
            </a:pPr>
            <a:r>
              <a:rPr lang="en-US" sz="1600" b="1" dirty="0">
                <a:solidFill>
                  <a:srgbClr val="E8703A"/>
                </a:solidFill>
                <a:latin typeface="Cambria" pitchFamily="34" charset="0"/>
                <a:ea typeface="Cambria" pitchFamily="34" charset="-122"/>
                <a:cs typeface="Cambria" pitchFamily="34" charset="-120"/>
              </a:rPr>
              <a:t>Why it matters</a:t>
            </a:r>
            <a:endParaRPr lang="en-US" sz="1600" dirty="0"/>
          </a:p>
        </p:txBody>
      </p:sp>
      <p:sp>
        <p:nvSpPr>
          <p:cNvPr id="13" name="Text 11"/>
          <p:cNvSpPr txBox="1"/>
          <p:nvPr/>
        </p:nvSpPr>
        <p:spPr>
          <a:xfrm>
            <a:off x="960120" y="4462272"/>
            <a:ext cx="10268712" cy="96012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Before the fix, the global SHAP–LIME agreement read τ 0.73. After it, τ 0.58. The higher, friendlier number was an artefact of LIME quietly not being reproducible — averaging over noise that was never meant to be there. A reliability study that does not check its own tooling can publish exactly this kind of number without ever seeing it.</a:t>
            </a:r>
            <a:endParaRPr lang="en-US" sz="1350" dirty="0"/>
          </a:p>
        </p:txBody>
      </p:sp>
      <p:sp>
        <p:nvSpPr>
          <p:cNvPr id="14" name="Shape 12"/>
          <p:cNvSpPr/>
          <p:nvPr/>
        </p:nvSpPr>
        <p:spPr>
          <a:xfrm>
            <a:off x="640080" y="5742432"/>
            <a:ext cx="10908792" cy="658368"/>
          </a:xfrm>
          <a:prstGeom prst="roundRect">
            <a:avLst>
              <a:gd name="adj" fmla="val 8333"/>
            </a:avLst>
          </a:prstGeom>
          <a:solidFill>
            <a:srgbClr val="E8703A"/>
          </a:solidFill>
          <a:ln w="12700">
            <a:solidFill>
              <a:srgbClr val="E8703A"/>
            </a:solidFill>
            <a:prstDash val="solid"/>
          </a:ln>
        </p:spPr>
      </p:sp>
      <p:sp>
        <p:nvSpPr>
          <p:cNvPr id="15" name="Text 13"/>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 audit found a bug in the audit tool. That is the clearest possible argument for running one.</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RQ6 — VERDICT</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Both are faithful. One is exact.</a:t>
            </a:r>
            <a:endParaRPr lang="en-US" sz="3000" dirty="0"/>
          </a:p>
        </p:txBody>
      </p:sp>
      <p:pic>
        <p:nvPicPr>
          <p:cNvPr id="4" name="Image 0" descr="/Users/abish/Downloads/StockRF-XAI/results/figures/lime_reliability.png">    </p:cNvPr>
          <p:cNvPicPr>
            <a:picLocks noChangeAspect="1"/>
          </p:cNvPicPr>
          <p:nvPr/>
        </p:nvPicPr>
        <p:blipFill>
          <a:blip r:embed="rId1"/>
          <a:stretch>
            <a:fillRect/>
          </a:stretch>
        </p:blipFill>
        <p:spPr>
          <a:xfrm>
            <a:off x="640080" y="1508760"/>
            <a:ext cx="6949440" cy="2697480"/>
          </a:xfrm>
          <a:prstGeom prst="rect">
            <a:avLst/>
          </a:prstGeom>
        </p:spPr>
      </p:pic>
      <p:sp>
        <p:nvSpPr>
          <p:cNvPr id="5" name="Shape 2"/>
          <p:cNvSpPr/>
          <p:nvPr/>
        </p:nvSpPr>
        <p:spPr>
          <a:xfrm>
            <a:off x="8092440" y="1508760"/>
            <a:ext cx="3474720" cy="4023360"/>
          </a:xfrm>
          <a:prstGeom prst="roundRect">
            <a:avLst>
              <a:gd name="adj" fmla="val 2105"/>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6" name="Text 3"/>
          <p:cNvSpPr txBox="1"/>
          <p:nvPr/>
        </p:nvSpPr>
        <p:spPr>
          <a:xfrm>
            <a:off x="8366760" y="1645920"/>
            <a:ext cx="2926080"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Deletion test, three orderings</a:t>
            </a:r>
            <a:endParaRPr lang="en-US" sz="1450" dirty="0"/>
          </a:p>
        </p:txBody>
      </p:sp>
      <p:sp>
        <p:nvSpPr>
          <p:cNvPr id="7" name="Text 4"/>
          <p:cNvSpPr txBox="1"/>
          <p:nvPr/>
        </p:nvSpPr>
        <p:spPr>
          <a:xfrm>
            <a:off x="8366760" y="2148840"/>
            <a:ext cx="3017520" cy="1188720"/>
          </a:xfrm>
          <a:prstGeom prst="rect">
            <a:avLst/>
          </a:prstGeom>
          <a:noFill/>
          <a:ln/>
        </p:spPr>
        <p:txBody>
          <a:bodyPr wrap="square" lIns="0" tIns="0" rIns="0" bIns="0" rtlCol="0" anchor="ctr"/>
          <a:lstStyle/>
          <a:p>
            <a:pPr indent="0" marL="0">
              <a:lnSpc>
                <a:spcPts val="1400"/>
              </a:lnSpc>
              <a:buNone/>
            </a:pPr>
            <a:r>
              <a:rPr lang="en-US" sz="1050" dirty="0">
                <a:solidFill>
                  <a:srgbClr val="26324A"/>
                </a:solidFill>
                <a:latin typeface="Consolas" pitchFamily="34" charset="0"/>
                <a:ea typeface="Consolas" pitchFamily="34" charset="-122"/>
                <a:cs typeface="Consolas" pitchFamily="34" charset="-120"/>
              </a:rPr>
              <a:t>AOPC    SHAP   8.70 bp</a:t>
            </a:r>
            <a:endParaRPr lang="en-US" sz="1050" dirty="0"/>
          </a:p>
          <a:p>
            <a:pPr indent="0" marL="0">
              <a:lnSpc>
                <a:spcPts val="1400"/>
              </a:lnSpc>
              <a:buNone/>
            </a:pPr>
            <a:r>
              <a:rPr lang="en-US" sz="1050" dirty="0">
                <a:solidFill>
                  <a:srgbClr val="26324A"/>
                </a:solidFill>
                <a:latin typeface="Consolas" pitchFamily="34" charset="0"/>
                <a:ea typeface="Consolas" pitchFamily="34" charset="-122"/>
                <a:cs typeface="Consolas" pitchFamily="34" charset="-120"/>
              </a:rPr>
              <a:t>        LIME   8.13 bp</a:t>
            </a:r>
            <a:endParaRPr lang="en-US" sz="1050" dirty="0"/>
          </a:p>
          <a:p>
            <a:pPr indent="0" marL="0">
              <a:lnSpc>
                <a:spcPts val="1400"/>
              </a:lnSpc>
              <a:buNone/>
            </a:pPr>
            <a:r>
              <a:rPr lang="en-US" sz="1050" dirty="0">
                <a:solidFill>
                  <a:srgbClr val="26324A"/>
                </a:solidFill>
                <a:latin typeface="Consolas" pitchFamily="34" charset="0"/>
                <a:ea typeface="Consolas" pitchFamily="34" charset="-122"/>
                <a:cs typeface="Consolas" pitchFamily="34" charset="-120"/>
              </a:rPr>
              <a:t>        Random 3.71 bp</a:t>
            </a:r>
            <a:endParaRPr lang="en-US" sz="1050" dirty="0"/>
          </a:p>
          <a:p>
            <a:pPr indent="0" marL="0">
              <a:lnSpc>
                <a:spcPts val="1400"/>
              </a:lnSpc>
              <a:buNone/>
            </a:pPr>
            <a:r>
              <a:rPr lang="en-US" sz="1050" dirty="0">
                <a:solidFill>
                  <a:srgbClr val="26324A"/>
                </a:solidFill>
                <a:latin typeface="Consolas" pitchFamily="34" charset="0"/>
                <a:ea typeface="Consolas" pitchFamily="34" charset="-122"/>
                <a:cs typeface="Consolas" pitchFamily="34" charset="-120"/>
              </a:rPr>
              <a:t>k = 1   SHAP   8.89 bp</a:t>
            </a:r>
            <a:endParaRPr lang="en-US" sz="1050" dirty="0"/>
          </a:p>
          <a:p>
            <a:pPr indent="0" marL="0">
              <a:lnSpc>
                <a:spcPts val="1400"/>
              </a:lnSpc>
              <a:buNone/>
            </a:pPr>
            <a:r>
              <a:rPr lang="en-US" sz="1050" dirty="0">
                <a:solidFill>
                  <a:srgbClr val="26324A"/>
                </a:solidFill>
                <a:latin typeface="Consolas" pitchFamily="34" charset="0"/>
                <a:ea typeface="Consolas" pitchFamily="34" charset="-122"/>
                <a:cs typeface="Consolas" pitchFamily="34" charset="-120"/>
              </a:rPr>
              <a:t>        LIME   6.53 bp</a:t>
            </a:r>
            <a:endParaRPr lang="en-US" sz="1050" dirty="0"/>
          </a:p>
        </p:txBody>
      </p:sp>
      <p:sp>
        <p:nvSpPr>
          <p:cNvPr id="8" name="Text 5"/>
          <p:cNvSpPr txBox="1"/>
          <p:nvPr/>
        </p:nvSpPr>
        <p:spPr>
          <a:xfrm>
            <a:off x="8366760" y="3474720"/>
            <a:ext cx="3017520" cy="20116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100" dirty="0">
                <a:solidFill>
                  <a:srgbClr val="26324A"/>
                </a:solidFill>
                <a:latin typeface="Calibri" pitchFamily="34" charset="0"/>
                <a:ea typeface="Calibri" pitchFamily="34" charset="-122"/>
                <a:cs typeface="Calibri" pitchFamily="34" charset="-120"/>
              </a:rPr>
              <a:t>Both beat random by more than 2×, so both genuinely describe the model.</a:t>
            </a:r>
            <a:endParaRPr lang="en-US" sz="1100" dirty="0"/>
          </a:p>
          <a:p>
            <a:pPr marL="342900" indent="-342900">
              <a:lnSpc>
                <a:spcPts val="1900"/>
              </a:lnSpc>
              <a:spcAft>
                <a:spcPts val="800"/>
              </a:spcAft>
              <a:buSzPct val="100000"/>
              <a:buChar char="•"/>
            </a:pPr>
            <a:r>
              <a:rPr lang="en-US" sz="1100" dirty="0">
                <a:solidFill>
                  <a:srgbClr val="26324A"/>
                </a:solidFill>
                <a:latin typeface="Calibri" pitchFamily="34" charset="0"/>
                <a:ea typeface="Calibri" pitchFamily="34" charset="-122"/>
                <a:cs typeface="Calibri" pitchFamily="34" charset="-120"/>
              </a:rPr>
              <a:t>SHAP is better at k = 1: its single top feature is more often the right one.</a:t>
            </a:r>
            <a:endParaRPr lang="en-US" sz="1100" dirty="0"/>
          </a:p>
          <a:p>
            <a:pPr marL="342900" indent="-342900">
              <a:lnSpc>
                <a:spcPts val="1900"/>
              </a:lnSpc>
              <a:spcAft>
                <a:spcPts val="800"/>
              </a:spcAft>
              <a:buSzPct val="100000"/>
              <a:buChar char="•"/>
            </a:pPr>
            <a:r>
              <a:rPr lang="en-US" sz="1100" dirty="0">
                <a:solidFill>
                  <a:srgbClr val="26324A"/>
                </a:solidFill>
                <a:latin typeface="Calibri" pitchFamily="34" charset="0"/>
                <a:ea typeface="Calibri" pitchFamily="34" charset="-122"/>
                <a:cs typeface="Calibri" pitchFamily="34" charset="-120"/>
              </a:rPr>
              <a:t>TreeSHAP is exact, additive and deterministic. LIME is approximate and random.</a:t>
            </a:r>
            <a:endParaRPr lang="en-US" sz="1100" dirty="0"/>
          </a:p>
          <a:p>
            <a:pPr marL="342900" indent="-342900">
              <a:lnSpc>
                <a:spcPts val="1900"/>
              </a:lnSpc>
              <a:spcAft>
                <a:spcPts val="800"/>
              </a:spcAft>
              <a:buSzPct val="100000"/>
              <a:buChar char="•"/>
            </a:pPr>
            <a:r>
              <a:rPr lang="en-US" sz="1100" dirty="0">
                <a:solidFill>
                  <a:srgbClr val="26324A"/>
                </a:solidFill>
                <a:latin typeface="Calibri" pitchFamily="34" charset="0"/>
                <a:ea typeface="Calibri" pitchFamily="34" charset="-122"/>
                <a:cs typeface="Calibri" pitchFamily="34" charset="-120"/>
              </a:rPr>
              <a:t>Use TreeSHAP for trees; keep LIME as a cross-check.</a:t>
            </a:r>
            <a:endParaRPr lang="en-US" sz="1100" dirty="0"/>
          </a:p>
        </p:txBody>
      </p:sp>
      <p:sp>
        <p:nvSpPr>
          <p:cNvPr id="9" name="Shape 6"/>
          <p:cNvSpPr/>
          <p:nvPr/>
        </p:nvSpPr>
        <p:spPr>
          <a:xfrm>
            <a:off x="640080" y="5742432"/>
            <a:ext cx="10908792" cy="658368"/>
          </a:xfrm>
          <a:prstGeom prst="roundRect">
            <a:avLst>
              <a:gd name="adj" fmla="val 8333"/>
            </a:avLst>
          </a:prstGeom>
          <a:solidFill>
            <a:srgbClr val="2E7D63"/>
          </a:solidFill>
          <a:ln w="12700">
            <a:solidFill>
              <a:srgbClr val="2E7D63"/>
            </a:solidFill>
            <a:prstDash val="solid"/>
          </a:ln>
        </p:spPr>
      </p:sp>
      <p:sp>
        <p:nvSpPr>
          <p:cNvPr id="10" name="Text 7"/>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Where an exact explainer exists, approximating it is a choice — and here it costs reproducibility and two thirds of local fidelity.</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DEMONSTRATION</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you type, and what you get back</a:t>
            </a:r>
            <a:endParaRPr lang="en-US" sz="3000" dirty="0"/>
          </a:p>
        </p:txBody>
      </p:sp>
      <p:sp>
        <p:nvSpPr>
          <p:cNvPr id="4" name="Shape 2"/>
          <p:cNvSpPr/>
          <p:nvPr/>
        </p:nvSpPr>
        <p:spPr>
          <a:xfrm>
            <a:off x="640080" y="1508760"/>
            <a:ext cx="3200400" cy="4023360"/>
          </a:xfrm>
          <a:prstGeom prst="roundRect">
            <a:avLst>
              <a:gd name="adj" fmla="val 2286"/>
            </a:avLst>
          </a:prstGeom>
          <a:solidFill>
            <a:srgbClr val="1E2761"/>
          </a:solidFill>
          <a:ln w="12700">
            <a:solidFill>
              <a:srgbClr val="1E2761"/>
            </a:solidFill>
            <a:prstDash val="solid"/>
          </a:ln>
          <a:effectLst>
            <a:outerShdw sx="100000" sy="100000" kx="0" ky="0" algn="bl" rotWithShape="0" blurRad="101600" dist="12700" dir="5400000">
              <a:srgbClr val="9AA7BD">
                <a:alpha val="22000"/>
              </a:srgbClr>
            </a:outerShdw>
          </a:effectLst>
        </p:spPr>
      </p:sp>
      <p:sp>
        <p:nvSpPr>
          <p:cNvPr id="5" name="Text 3"/>
          <p:cNvSpPr txBox="1"/>
          <p:nvPr/>
        </p:nvSpPr>
        <p:spPr>
          <a:xfrm>
            <a:off x="914400" y="1664208"/>
            <a:ext cx="2651760" cy="274320"/>
          </a:xfrm>
          <a:prstGeom prst="rect">
            <a:avLst/>
          </a:prstGeom>
          <a:noFill/>
          <a:ln/>
        </p:spPr>
        <p:txBody>
          <a:bodyPr wrap="square" lIns="0" tIns="0" rIns="0" bIns="0" rtlCol="0" anchor="ctr"/>
          <a:lstStyle/>
          <a:p>
            <a:pPr indent="0" marL="0">
              <a:buNone/>
            </a:pPr>
            <a:r>
              <a:rPr lang="en-US" sz="1150" b="1" spc="200" kern="0" dirty="0">
                <a:solidFill>
                  <a:srgbClr val="E8703A"/>
                </a:solidFill>
                <a:latin typeface="Calibri" pitchFamily="34" charset="0"/>
                <a:ea typeface="Calibri" pitchFamily="34" charset="-122"/>
                <a:cs typeface="Calibri" pitchFamily="34" charset="-120"/>
              </a:rPr>
              <a:t>INPUT</a:t>
            </a:r>
            <a:endParaRPr lang="en-US" sz="1150" dirty="0"/>
          </a:p>
        </p:txBody>
      </p:sp>
      <p:sp>
        <p:nvSpPr>
          <p:cNvPr id="6" name="Text 4"/>
          <p:cNvSpPr txBox="1"/>
          <p:nvPr/>
        </p:nvSpPr>
        <p:spPr>
          <a:xfrm>
            <a:off x="914400" y="1938528"/>
            <a:ext cx="265176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Two choices</a:t>
            </a:r>
            <a:endParaRPr lang="en-US" sz="1800" dirty="0"/>
          </a:p>
        </p:txBody>
      </p:sp>
      <p:sp>
        <p:nvSpPr>
          <p:cNvPr id="7" name="Text 5"/>
          <p:cNvSpPr txBox="1"/>
          <p:nvPr/>
        </p:nvSpPr>
        <p:spPr>
          <a:xfrm>
            <a:off x="914400" y="2423160"/>
            <a:ext cx="2651760" cy="2926080"/>
          </a:xfrm>
          <a:prstGeom prst="rect">
            <a:avLst/>
          </a:prstGeom>
          <a:noFill/>
          <a:ln/>
        </p:spPr>
        <p:txBody>
          <a:bodyPr wrap="square" lIns="0" tIns="0" rIns="0" bIns="0" rtlCol="0" anchor="ctr"/>
          <a:lstStyle/>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1.  A stock</a:t>
            </a:r>
            <a:endParaRPr lang="en-US" sz="1250" dirty="0"/>
          </a:p>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     474 in past mode</a:t>
            </a:r>
            <a:endParaRPr lang="en-US" sz="1250" dirty="0"/>
          </a:p>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     431 in live mode</a:t>
            </a:r>
            <a:endParaRPr lang="en-US" sz="1250" dirty="0"/>
          </a:p>
          <a:p>
            <a:pPr indent="0" marL="0">
              <a:lnSpc>
                <a:spcPts val="1800"/>
              </a:lnSpc>
              <a:buNone/>
            </a:pPr>
            <a:endParaRPr lang="en-US" sz="1250" dirty="0"/>
          </a:p>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2.  A date</a:t>
            </a:r>
            <a:endParaRPr lang="en-US" sz="1250" dirty="0"/>
          </a:p>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     any trading day from</a:t>
            </a:r>
            <a:endParaRPr lang="en-US" sz="1250" dirty="0"/>
          </a:p>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     2019-01-02 to 2022-05-24</a:t>
            </a:r>
            <a:endParaRPr lang="en-US" sz="1250" dirty="0"/>
          </a:p>
          <a:p>
            <a:pPr indent="0" marL="0">
              <a:lnSpc>
                <a:spcPts val="1800"/>
              </a:lnSpc>
              <a:buNone/>
            </a:pPr>
            <a:endParaRPr lang="en-US" sz="1250" dirty="0"/>
          </a:p>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     or “next session”, whose</a:t>
            </a:r>
            <a:endParaRPr lang="en-US" sz="1250" dirty="0"/>
          </a:p>
          <a:p>
            <a:pPr indent="0" marL="0">
              <a:lnSpc>
                <a:spcPts val="1800"/>
              </a:lnSpc>
              <a:buNone/>
            </a:pPr>
            <a:r>
              <a:rPr lang="en-US" sz="1250" dirty="0">
                <a:solidFill>
                  <a:srgbClr val="CADCFC"/>
                </a:solidFill>
                <a:latin typeface="Calibri" pitchFamily="34" charset="0"/>
                <a:ea typeface="Calibri" pitchFamily="34" charset="-122"/>
                <a:cs typeface="Calibri" pitchFamily="34" charset="-120"/>
              </a:rPr>
              <a:t>     outcome does not exist yet</a:t>
            </a:r>
            <a:endParaRPr lang="en-US" sz="1250" dirty="0"/>
          </a:p>
        </p:txBody>
      </p:sp>
      <p:sp>
        <p:nvSpPr>
          <p:cNvPr id="8" name="Shape 6"/>
          <p:cNvSpPr/>
          <p:nvPr/>
        </p:nvSpPr>
        <p:spPr>
          <a:xfrm>
            <a:off x="4114800" y="1508760"/>
            <a:ext cx="3749040" cy="1234440"/>
          </a:xfrm>
          <a:prstGeom prst="roundRect">
            <a:avLst>
              <a:gd name="adj" fmla="val 592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9" name="Shape 7"/>
          <p:cNvSpPr/>
          <p:nvPr/>
        </p:nvSpPr>
        <p:spPr>
          <a:xfrm>
            <a:off x="4297680" y="1655064"/>
            <a:ext cx="384048" cy="384048"/>
          </a:xfrm>
          <a:prstGeom prst="ellipse">
            <a:avLst/>
          </a:prstGeom>
          <a:solidFill>
            <a:srgbClr val="E8703A"/>
          </a:solidFill>
          <a:ln w="12700">
            <a:solidFill>
              <a:srgbClr val="E8703A"/>
            </a:solidFill>
            <a:prstDash val="solid"/>
          </a:ln>
        </p:spPr>
      </p:sp>
      <p:sp>
        <p:nvSpPr>
          <p:cNvPr id="10" name="Text 8"/>
          <p:cNvSpPr txBox="1"/>
          <p:nvPr/>
        </p:nvSpPr>
        <p:spPr>
          <a:xfrm>
            <a:off x="4297680" y="1655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4800600" y="1636776"/>
            <a:ext cx="29260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The forecast</a:t>
            </a:r>
            <a:endParaRPr lang="en-US" sz="1400" dirty="0"/>
          </a:p>
        </p:txBody>
      </p:sp>
      <p:sp>
        <p:nvSpPr>
          <p:cNvPr id="12" name="Text 10"/>
          <p:cNvSpPr txBox="1"/>
          <p:nvPr/>
        </p:nvSpPr>
        <p:spPr>
          <a:xfrm>
            <a:off x="4343400" y="2011680"/>
            <a:ext cx="3291840" cy="685800"/>
          </a:xfrm>
          <a:prstGeom prst="rect">
            <a:avLst/>
          </a:prstGeom>
          <a:noFill/>
          <a:ln/>
        </p:spPr>
        <p:txBody>
          <a:bodyPr wrap="square" lIns="0" tIns="0" rIns="0" bIns="0" rtlCol="0" anchor="ctr"/>
          <a:lstStyle/>
          <a:p>
            <a:pPr indent="0" marL="0">
              <a:lnSpc>
                <a:spcPts val="1400"/>
              </a:lnSpc>
              <a:buNone/>
            </a:pPr>
            <a:r>
              <a:rPr lang="en-US" sz="1100" dirty="0">
                <a:solidFill>
                  <a:srgbClr val="26324A"/>
                </a:solidFill>
                <a:latin typeface="Calibri" pitchFamily="34" charset="0"/>
                <a:ea typeface="Calibri" pitchFamily="34" charset="-122"/>
                <a:cs typeface="Calibri" pitchFamily="34" charset="-120"/>
              </a:rPr>
              <a:t>Predicted return in bp, predicted close in dollars, probability tomorrow is up. In past mode, the actual outcome beside it.</a:t>
            </a:r>
            <a:endParaRPr lang="en-US" sz="1100" dirty="0"/>
          </a:p>
        </p:txBody>
      </p:sp>
      <p:sp>
        <p:nvSpPr>
          <p:cNvPr id="13" name="Shape 11"/>
          <p:cNvSpPr/>
          <p:nvPr/>
        </p:nvSpPr>
        <p:spPr>
          <a:xfrm>
            <a:off x="4114800" y="2880360"/>
            <a:ext cx="3749040" cy="1234440"/>
          </a:xfrm>
          <a:prstGeom prst="roundRect">
            <a:avLst>
              <a:gd name="adj" fmla="val 5926"/>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4" name="Shape 12"/>
          <p:cNvSpPr/>
          <p:nvPr/>
        </p:nvSpPr>
        <p:spPr>
          <a:xfrm>
            <a:off x="4297680" y="3026664"/>
            <a:ext cx="384048" cy="384048"/>
          </a:xfrm>
          <a:prstGeom prst="ellipse">
            <a:avLst/>
          </a:prstGeom>
          <a:solidFill>
            <a:srgbClr val="E8703A"/>
          </a:solidFill>
          <a:ln w="12700">
            <a:solidFill>
              <a:srgbClr val="E8703A"/>
            </a:solidFill>
            <a:prstDash val="solid"/>
          </a:ln>
        </p:spPr>
      </p:sp>
      <p:sp>
        <p:nvSpPr>
          <p:cNvPr id="15" name="Text 13"/>
          <p:cNvSpPr txBox="1"/>
          <p:nvPr/>
        </p:nvSpPr>
        <p:spPr>
          <a:xfrm>
            <a:off x="4297680" y="3026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4800600" y="3008376"/>
            <a:ext cx="29260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 price chart</a:t>
            </a:r>
            <a:endParaRPr lang="en-US" sz="1400" dirty="0"/>
          </a:p>
        </p:txBody>
      </p:sp>
      <p:sp>
        <p:nvSpPr>
          <p:cNvPr id="17" name="Text 15"/>
          <p:cNvSpPr txBox="1"/>
          <p:nvPr/>
        </p:nvSpPr>
        <p:spPr>
          <a:xfrm>
            <a:off x="4343400" y="3383280"/>
            <a:ext cx="3291840" cy="685800"/>
          </a:xfrm>
          <a:prstGeom prst="rect">
            <a:avLst/>
          </a:prstGeom>
          <a:noFill/>
          <a:ln/>
        </p:spPr>
        <p:txBody>
          <a:bodyPr wrap="square" lIns="0" tIns="0" rIns="0" bIns="0" rtlCol="0" anchor="ctr"/>
          <a:lstStyle/>
          <a:p>
            <a:pPr indent="0" marL="0">
              <a:lnSpc>
                <a:spcPts val="1400"/>
              </a:lnSpc>
              <a:buNone/>
            </a:pPr>
            <a:r>
              <a:rPr lang="en-US" sz="1100" dirty="0">
                <a:solidFill>
                  <a:srgbClr val="26324A"/>
                </a:solidFill>
                <a:latin typeface="Calibri" pitchFamily="34" charset="0"/>
                <a:ea typeface="Calibri" pitchFamily="34" charset="-122"/>
                <a:cs typeface="Calibri" pitchFamily="34" charset="-120"/>
              </a:rPr>
              <a:t>Last 60 closes, a dashed line to the forecast, and a band of one standard deviation of this stock's recent daily moves.</a:t>
            </a:r>
            <a:endParaRPr lang="en-US" sz="1100" dirty="0"/>
          </a:p>
        </p:txBody>
      </p:sp>
      <p:sp>
        <p:nvSpPr>
          <p:cNvPr id="18" name="Shape 16"/>
          <p:cNvSpPr/>
          <p:nvPr/>
        </p:nvSpPr>
        <p:spPr>
          <a:xfrm>
            <a:off x="4114800" y="4251960"/>
            <a:ext cx="3749040" cy="1234440"/>
          </a:xfrm>
          <a:prstGeom prst="roundRect">
            <a:avLst>
              <a:gd name="adj" fmla="val 592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9" name="Shape 17"/>
          <p:cNvSpPr/>
          <p:nvPr/>
        </p:nvSpPr>
        <p:spPr>
          <a:xfrm>
            <a:off x="4297680" y="4398264"/>
            <a:ext cx="384048" cy="384048"/>
          </a:xfrm>
          <a:prstGeom prst="ellipse">
            <a:avLst/>
          </a:prstGeom>
          <a:solidFill>
            <a:srgbClr val="E8703A"/>
          </a:solidFill>
          <a:ln w="12700">
            <a:solidFill>
              <a:srgbClr val="E8703A"/>
            </a:solidFill>
            <a:prstDash val="solid"/>
          </a:ln>
        </p:spPr>
      </p:sp>
      <p:sp>
        <p:nvSpPr>
          <p:cNvPr id="20" name="Text 18"/>
          <p:cNvSpPr txBox="1"/>
          <p:nvPr/>
        </p:nvSpPr>
        <p:spPr>
          <a:xfrm>
            <a:off x="4297680" y="4398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4800600" y="4379976"/>
            <a:ext cx="29260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 SHAP waterfall</a:t>
            </a:r>
            <a:endParaRPr lang="en-US" sz="1400" dirty="0"/>
          </a:p>
        </p:txBody>
      </p:sp>
      <p:sp>
        <p:nvSpPr>
          <p:cNvPr id="22" name="Text 20"/>
          <p:cNvSpPr txBox="1"/>
          <p:nvPr/>
        </p:nvSpPr>
        <p:spPr>
          <a:xfrm>
            <a:off x="4343400" y="4754880"/>
            <a:ext cx="3291840" cy="685800"/>
          </a:xfrm>
          <a:prstGeom prst="rect">
            <a:avLst/>
          </a:prstGeom>
          <a:noFill/>
          <a:ln/>
        </p:spPr>
        <p:txBody>
          <a:bodyPr wrap="square" lIns="0" tIns="0" rIns="0" bIns="0" rtlCol="0" anchor="ctr"/>
          <a:lstStyle/>
          <a:p>
            <a:pPr indent="0" marL="0">
              <a:lnSpc>
                <a:spcPts val="1400"/>
              </a:lnSpc>
              <a:buNone/>
            </a:pPr>
            <a:r>
              <a:rPr lang="en-US" sz="1100" dirty="0">
                <a:solidFill>
                  <a:srgbClr val="26324A"/>
                </a:solidFill>
                <a:latin typeface="Calibri" pitchFamily="34" charset="0"/>
                <a:ea typeface="Calibri" pitchFamily="34" charset="-122"/>
                <a:cs typeface="Calibri" pitchFamily="34" charset="-120"/>
              </a:rPr>
              <a:t>Average forecast → each top feature → this forecast. Lands on the number exactly.</a:t>
            </a:r>
            <a:endParaRPr lang="en-US" sz="1100" dirty="0"/>
          </a:p>
        </p:txBody>
      </p:sp>
      <p:sp>
        <p:nvSpPr>
          <p:cNvPr id="23" name="Shape 21"/>
          <p:cNvSpPr/>
          <p:nvPr/>
        </p:nvSpPr>
        <p:spPr>
          <a:xfrm>
            <a:off x="8092440" y="1508760"/>
            <a:ext cx="3749040" cy="1234440"/>
          </a:xfrm>
          <a:prstGeom prst="roundRect">
            <a:avLst>
              <a:gd name="adj" fmla="val 5926"/>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4" name="Shape 22"/>
          <p:cNvSpPr/>
          <p:nvPr/>
        </p:nvSpPr>
        <p:spPr>
          <a:xfrm>
            <a:off x="8275320" y="1655064"/>
            <a:ext cx="384048" cy="384048"/>
          </a:xfrm>
          <a:prstGeom prst="ellipse">
            <a:avLst/>
          </a:prstGeom>
          <a:solidFill>
            <a:srgbClr val="E8703A"/>
          </a:solidFill>
          <a:ln w="12700">
            <a:solidFill>
              <a:srgbClr val="E8703A"/>
            </a:solidFill>
            <a:prstDash val="solid"/>
          </a:ln>
        </p:spPr>
      </p:sp>
      <p:sp>
        <p:nvSpPr>
          <p:cNvPr id="25" name="Text 23"/>
          <p:cNvSpPr txBox="1"/>
          <p:nvPr/>
        </p:nvSpPr>
        <p:spPr>
          <a:xfrm>
            <a:off x="8275320" y="1655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8778240" y="1636776"/>
            <a:ext cx="29260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SHAP vs LIME</a:t>
            </a:r>
            <a:endParaRPr lang="en-US" sz="1400" dirty="0"/>
          </a:p>
        </p:txBody>
      </p:sp>
      <p:sp>
        <p:nvSpPr>
          <p:cNvPr id="27" name="Text 25"/>
          <p:cNvSpPr txBox="1"/>
          <p:nvPr/>
        </p:nvSpPr>
        <p:spPr>
          <a:xfrm>
            <a:off x="8321040" y="2011680"/>
            <a:ext cx="3291840" cy="685800"/>
          </a:xfrm>
          <a:prstGeom prst="rect">
            <a:avLst/>
          </a:prstGeom>
          <a:noFill/>
          <a:ln/>
        </p:spPr>
        <p:txBody>
          <a:bodyPr wrap="square" lIns="0" tIns="0" rIns="0" bIns="0" rtlCol="0" anchor="ctr"/>
          <a:lstStyle/>
          <a:p>
            <a:pPr indent="0" marL="0">
              <a:lnSpc>
                <a:spcPts val="1400"/>
              </a:lnSpc>
              <a:buNone/>
            </a:pPr>
            <a:r>
              <a:rPr lang="en-US" sz="1100" dirty="0">
                <a:solidFill>
                  <a:srgbClr val="26324A"/>
                </a:solidFill>
                <a:latin typeface="Calibri" pitchFamily="34" charset="0"/>
                <a:ea typeface="Calibri" pitchFamily="34" charset="-122"/>
                <a:cs typeface="Calibri" pitchFamily="34" charset="-120"/>
              </a:rPr>
              <a:t>Both explanations of the same forecast, side by side, plus all 32 features in a table.</a:t>
            </a:r>
            <a:endParaRPr lang="en-US" sz="1100" dirty="0"/>
          </a:p>
        </p:txBody>
      </p:sp>
      <p:sp>
        <p:nvSpPr>
          <p:cNvPr id="28" name="Shape 26"/>
          <p:cNvSpPr/>
          <p:nvPr/>
        </p:nvSpPr>
        <p:spPr>
          <a:xfrm>
            <a:off x="8092440" y="2880360"/>
            <a:ext cx="3749040" cy="1234440"/>
          </a:xfrm>
          <a:prstGeom prst="roundRect">
            <a:avLst>
              <a:gd name="adj" fmla="val 592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9" name="Shape 27"/>
          <p:cNvSpPr/>
          <p:nvPr/>
        </p:nvSpPr>
        <p:spPr>
          <a:xfrm>
            <a:off x="8275320" y="3026664"/>
            <a:ext cx="384048" cy="384048"/>
          </a:xfrm>
          <a:prstGeom prst="ellipse">
            <a:avLst/>
          </a:prstGeom>
          <a:solidFill>
            <a:srgbClr val="E8703A"/>
          </a:solidFill>
          <a:ln w="12700">
            <a:solidFill>
              <a:srgbClr val="E8703A"/>
            </a:solidFill>
            <a:prstDash val="solid"/>
          </a:ln>
        </p:spPr>
      </p:sp>
      <p:sp>
        <p:nvSpPr>
          <p:cNvPr id="30" name="Text 28"/>
          <p:cNvSpPr txBox="1"/>
          <p:nvPr/>
        </p:nvSpPr>
        <p:spPr>
          <a:xfrm>
            <a:off x="8275320" y="3026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8778240" y="3008376"/>
            <a:ext cx="29260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The four audits</a:t>
            </a:r>
            <a:endParaRPr lang="en-US" sz="1400" dirty="0"/>
          </a:p>
        </p:txBody>
      </p:sp>
      <p:sp>
        <p:nvSpPr>
          <p:cNvPr id="32" name="Text 30"/>
          <p:cNvSpPr txBox="1"/>
          <p:nvPr/>
        </p:nvSpPr>
        <p:spPr>
          <a:xfrm>
            <a:off x="8321040" y="3383280"/>
            <a:ext cx="3291840" cy="685800"/>
          </a:xfrm>
          <a:prstGeom prst="rect">
            <a:avLst/>
          </a:prstGeom>
          <a:noFill/>
          <a:ln/>
        </p:spPr>
        <p:txBody>
          <a:bodyPr wrap="square" lIns="0" tIns="0" rIns="0" bIns="0" rtlCol="0" anchor="ctr"/>
          <a:lstStyle/>
          <a:p>
            <a:pPr indent="0" marL="0">
              <a:lnSpc>
                <a:spcPts val="1400"/>
              </a:lnSpc>
              <a:buNone/>
            </a:pPr>
            <a:r>
              <a:rPr lang="en-US" sz="1100" dirty="0">
                <a:solidFill>
                  <a:srgbClr val="26324A"/>
                </a:solidFill>
                <a:latin typeface="Calibri" pitchFamily="34" charset="0"/>
                <a:ea typeface="Calibri" pitchFamily="34" charset="-122"/>
                <a:cs typeface="Calibri" pitchFamily="34" charset="-120"/>
              </a:rPr>
              <a:t>Do they agree, is each stable, is it faithful — computed live, on this forecast.</a:t>
            </a:r>
            <a:endParaRPr lang="en-US" sz="1100" dirty="0"/>
          </a:p>
        </p:txBody>
      </p:sp>
      <p:sp>
        <p:nvSpPr>
          <p:cNvPr id="33" name="Shape 31"/>
          <p:cNvSpPr/>
          <p:nvPr/>
        </p:nvSpPr>
        <p:spPr>
          <a:xfrm>
            <a:off x="8092440" y="4251960"/>
            <a:ext cx="3749040" cy="1234440"/>
          </a:xfrm>
          <a:prstGeom prst="roundRect">
            <a:avLst>
              <a:gd name="adj" fmla="val 592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34" name="Text 32"/>
          <p:cNvSpPr txBox="1"/>
          <p:nvPr/>
        </p:nvSpPr>
        <p:spPr>
          <a:xfrm>
            <a:off x="8321040" y="4370832"/>
            <a:ext cx="3291840" cy="320040"/>
          </a:xfrm>
          <a:prstGeom prst="rect">
            <a:avLst/>
          </a:prstGeom>
          <a:noFill/>
          <a:ln/>
        </p:spPr>
        <p:txBody>
          <a:bodyPr wrap="square" lIns="0" tIns="0" rIns="0" bIns="0" rtlCol="0" anchor="ctr"/>
          <a:lstStyle/>
          <a:p>
            <a:pPr indent="0" marL="0">
              <a:buNone/>
            </a:pPr>
            <a:r>
              <a:rPr lang="en-US" sz="1300" b="1" dirty="0">
                <a:solidFill>
                  <a:srgbClr val="2E7D63"/>
                </a:solidFill>
                <a:latin typeface="Cambria" pitchFamily="34" charset="0"/>
                <a:ea typeface="Cambria" pitchFamily="34" charset="-122"/>
                <a:cs typeface="Cambria" pitchFamily="34" charset="-120"/>
              </a:rPr>
              <a:t>Live, as of the 29 Oct 2026 close</a:t>
            </a:r>
            <a:endParaRPr lang="en-US" sz="1300" dirty="0"/>
          </a:p>
        </p:txBody>
      </p:sp>
      <p:sp>
        <p:nvSpPr>
          <p:cNvPr id="35" name="Text 33"/>
          <p:cNvSpPr txBox="1"/>
          <p:nvPr/>
        </p:nvSpPr>
        <p:spPr>
          <a:xfrm>
            <a:off x="8321040" y="4681728"/>
            <a:ext cx="3291840" cy="777240"/>
          </a:xfrm>
          <a:prstGeom prst="rect">
            <a:avLst/>
          </a:prstGeom>
          <a:noFill/>
          <a:ln/>
        </p:spPr>
        <p:txBody>
          <a:bodyPr wrap="square" lIns="0" tIns="0" rIns="0" bIns="0" rtlCol="0" anchor="ctr"/>
          <a:lstStyle/>
          <a:p>
            <a:pPr indent="0" marL="0">
              <a:lnSpc>
                <a:spcPts val="1300"/>
              </a:lnSpc>
              <a:buNone/>
            </a:pPr>
            <a:r>
              <a:rPr lang="en-US" sz="1050" dirty="0">
                <a:solidFill>
                  <a:srgbClr val="26324A"/>
                </a:solidFill>
                <a:latin typeface="Calibri" pitchFamily="34" charset="0"/>
                <a:ea typeface="Calibri" pitchFamily="34" charset="-122"/>
                <a:cs typeface="Calibri" pitchFamily="34" charset="-120"/>
              </a:rPr>
              <a:t>431 stocks, retrained on 1,473,486 stock-days. 43 of the original 474 tickers no longer trade — the page lists them, so survivorship bias is visible rather than hidden.</a:t>
            </a:r>
            <a:endParaRPr lang="en-US" sz="1050" dirty="0"/>
          </a:p>
        </p:txBody>
      </p:sp>
      <p:sp>
        <p:nvSpPr>
          <p:cNvPr id="36" name="Shape 34"/>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37" name="Text 35"/>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Nothing is read from a cache: every request runs TreeSHAP once and LIME five times, live, on the saved model.</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CONTRIBUTIONS</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this project adds</a:t>
            </a:r>
            <a:endParaRPr lang="en-US" sz="3000" dirty="0"/>
          </a:p>
        </p:txBody>
      </p:sp>
      <p:sp>
        <p:nvSpPr>
          <p:cNvPr id="4" name="Shape 2"/>
          <p:cNvSpPr/>
          <p:nvPr/>
        </p:nvSpPr>
        <p:spPr>
          <a:xfrm>
            <a:off x="640080" y="1508760"/>
            <a:ext cx="5257800" cy="1261872"/>
          </a:xfrm>
          <a:prstGeom prst="roundRect">
            <a:avLst>
              <a:gd name="adj" fmla="val 579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5" name="Shape 3"/>
          <p:cNvSpPr/>
          <p:nvPr/>
        </p:nvSpPr>
        <p:spPr>
          <a:xfrm>
            <a:off x="841248" y="1673352"/>
            <a:ext cx="384048" cy="384048"/>
          </a:xfrm>
          <a:prstGeom prst="ellipse">
            <a:avLst/>
          </a:prstGeom>
          <a:solidFill>
            <a:srgbClr val="1E2761"/>
          </a:solidFill>
          <a:ln w="12700">
            <a:solidFill>
              <a:srgbClr val="1E2761"/>
            </a:solidFill>
            <a:prstDash val="solid"/>
          </a:ln>
        </p:spPr>
      </p:sp>
      <p:sp>
        <p:nvSpPr>
          <p:cNvPr id="6" name="Text 4"/>
          <p:cNvSpPr txBox="1"/>
          <p:nvPr/>
        </p:nvSpPr>
        <p:spPr>
          <a:xfrm>
            <a:off x="841248" y="1673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71600" y="1636776"/>
            <a:ext cx="4297680" cy="347472"/>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The price-space artefact, measured</a:t>
            </a:r>
            <a:endParaRPr lang="en-US" sz="1450" dirty="0"/>
          </a:p>
        </p:txBody>
      </p:sp>
      <p:sp>
        <p:nvSpPr>
          <p:cNvPr id="8" name="Text 6"/>
          <p:cNvSpPr txBox="1"/>
          <p:nvPr/>
        </p:nvSpPr>
        <p:spPr>
          <a:xfrm>
            <a:off x="914400" y="2039112"/>
            <a:ext cx="4754880" cy="68580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The same forecasts score R² 0.99938 on price and +0.00013 on return, with naive persistence tied to three decimals.</a:t>
            </a:r>
            <a:endParaRPr lang="en-US" sz="1150" dirty="0"/>
          </a:p>
        </p:txBody>
      </p:sp>
      <p:sp>
        <p:nvSpPr>
          <p:cNvPr id="9" name="Shape 7"/>
          <p:cNvSpPr/>
          <p:nvPr/>
        </p:nvSpPr>
        <p:spPr>
          <a:xfrm>
            <a:off x="6263640" y="1508760"/>
            <a:ext cx="5257800" cy="1261872"/>
          </a:xfrm>
          <a:prstGeom prst="roundRect">
            <a:avLst>
              <a:gd name="adj" fmla="val 5797"/>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0" name="Shape 8"/>
          <p:cNvSpPr/>
          <p:nvPr/>
        </p:nvSpPr>
        <p:spPr>
          <a:xfrm>
            <a:off x="6464808" y="1673352"/>
            <a:ext cx="384048" cy="384048"/>
          </a:xfrm>
          <a:prstGeom prst="ellipse">
            <a:avLst/>
          </a:prstGeom>
          <a:solidFill>
            <a:srgbClr val="1E2761"/>
          </a:solidFill>
          <a:ln w="12700">
            <a:solidFill>
              <a:srgbClr val="1E2761"/>
            </a:solidFill>
            <a:prstDash val="solid"/>
          </a:ln>
        </p:spPr>
      </p:sp>
      <p:sp>
        <p:nvSpPr>
          <p:cNvPr id="11" name="Text 9"/>
          <p:cNvSpPr txBox="1"/>
          <p:nvPr/>
        </p:nvSpPr>
        <p:spPr>
          <a:xfrm>
            <a:off x="6464808" y="1673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995160" y="1636776"/>
            <a:ext cx="4297680" cy="347472"/>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 five-part explanation audit</a:t>
            </a:r>
            <a:endParaRPr lang="en-US" sz="1450" dirty="0"/>
          </a:p>
        </p:txBody>
      </p:sp>
      <p:sp>
        <p:nvSpPr>
          <p:cNvPr id="13" name="Text 11"/>
          <p:cNvSpPr txBox="1"/>
          <p:nvPr/>
        </p:nvSpPr>
        <p:spPr>
          <a:xfrm>
            <a:off x="6537960" y="2039112"/>
            <a:ext cx="4754880" cy="68580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Faithfulness, stability, agreement, sanity nulls and drift — run together on one model, with significance tests.</a:t>
            </a:r>
            <a:endParaRPr lang="en-US" sz="1150" dirty="0"/>
          </a:p>
        </p:txBody>
      </p:sp>
      <p:sp>
        <p:nvSpPr>
          <p:cNvPr id="14" name="Shape 12"/>
          <p:cNvSpPr/>
          <p:nvPr/>
        </p:nvSpPr>
        <p:spPr>
          <a:xfrm>
            <a:off x="640080" y="2898648"/>
            <a:ext cx="5257800" cy="1261872"/>
          </a:xfrm>
          <a:prstGeom prst="roundRect">
            <a:avLst>
              <a:gd name="adj" fmla="val 579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5" name="Shape 13"/>
          <p:cNvSpPr/>
          <p:nvPr/>
        </p:nvSpPr>
        <p:spPr>
          <a:xfrm>
            <a:off x="841248" y="3063240"/>
            <a:ext cx="384048" cy="384048"/>
          </a:xfrm>
          <a:prstGeom prst="ellipse">
            <a:avLst/>
          </a:prstGeom>
          <a:solidFill>
            <a:srgbClr val="E8703A"/>
          </a:solidFill>
          <a:ln w="12700">
            <a:solidFill>
              <a:srgbClr val="E8703A"/>
            </a:solidFill>
            <a:prstDash val="solid"/>
          </a:ln>
        </p:spPr>
      </p:sp>
      <p:sp>
        <p:nvSpPr>
          <p:cNvPr id="16" name="Text 14"/>
          <p:cNvSpPr txBox="1"/>
          <p:nvPr/>
        </p:nvSpPr>
        <p:spPr>
          <a:xfrm>
            <a:off x="841248"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71600" y="3026664"/>
            <a:ext cx="4297680" cy="347472"/>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Two sanity nulls, not one</a:t>
            </a:r>
            <a:endParaRPr lang="en-US" sz="1450" dirty="0"/>
          </a:p>
        </p:txBody>
      </p:sp>
      <p:sp>
        <p:nvSpPr>
          <p:cNvPr id="18" name="Text 16"/>
          <p:cNvSpPr txBox="1"/>
          <p:nvPr/>
        </p:nvSpPr>
        <p:spPr>
          <a:xfrm>
            <a:off x="914400" y="3429000"/>
            <a:ext cx="4754880" cy="68580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The within-day shuffle independently confirms what the model learned, by a different route from SHAP.</a:t>
            </a:r>
            <a:endParaRPr lang="en-US" sz="1150" dirty="0"/>
          </a:p>
        </p:txBody>
      </p:sp>
      <p:sp>
        <p:nvSpPr>
          <p:cNvPr id="19" name="Shape 17"/>
          <p:cNvSpPr/>
          <p:nvPr/>
        </p:nvSpPr>
        <p:spPr>
          <a:xfrm>
            <a:off x="6263640" y="2898648"/>
            <a:ext cx="5257800" cy="1261872"/>
          </a:xfrm>
          <a:prstGeom prst="roundRect">
            <a:avLst>
              <a:gd name="adj" fmla="val 5797"/>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0" name="Shape 18"/>
          <p:cNvSpPr/>
          <p:nvPr/>
        </p:nvSpPr>
        <p:spPr>
          <a:xfrm>
            <a:off x="6464808" y="3063240"/>
            <a:ext cx="384048" cy="384048"/>
          </a:xfrm>
          <a:prstGeom prst="ellipse">
            <a:avLst/>
          </a:prstGeom>
          <a:solidFill>
            <a:srgbClr val="E8703A"/>
          </a:solidFill>
          <a:ln w="12700">
            <a:solidFill>
              <a:srgbClr val="E8703A"/>
            </a:solidFill>
            <a:prstDash val="solid"/>
          </a:ln>
        </p:spPr>
      </p:sp>
      <p:sp>
        <p:nvSpPr>
          <p:cNvPr id="21" name="Text 19"/>
          <p:cNvSpPr txBox="1"/>
          <p:nvPr/>
        </p:nvSpPr>
        <p:spPr>
          <a:xfrm>
            <a:off x="6464808"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995160" y="3026664"/>
            <a:ext cx="4297680" cy="347472"/>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Drift tested, not just observed</a:t>
            </a:r>
            <a:endParaRPr lang="en-US" sz="1450" dirty="0"/>
          </a:p>
        </p:txBody>
      </p:sp>
      <p:sp>
        <p:nvSpPr>
          <p:cNvPr id="23" name="Text 21"/>
          <p:cNvSpPr txBox="1"/>
          <p:nvPr/>
        </p:nvSpPr>
        <p:spPr>
          <a:xfrm>
            <a:off x="6537960" y="3429000"/>
            <a:ext cx="4754880" cy="68580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Permutation tests over whole days and tickers: p = 0.003 across regimes, p = 0.001 across sectors.</a:t>
            </a:r>
            <a:endParaRPr lang="en-US" sz="1150" dirty="0"/>
          </a:p>
        </p:txBody>
      </p:sp>
      <p:sp>
        <p:nvSpPr>
          <p:cNvPr id="24" name="Shape 22"/>
          <p:cNvSpPr/>
          <p:nvPr/>
        </p:nvSpPr>
        <p:spPr>
          <a:xfrm>
            <a:off x="640080" y="4288536"/>
            <a:ext cx="5257800" cy="1261872"/>
          </a:xfrm>
          <a:prstGeom prst="roundRect">
            <a:avLst>
              <a:gd name="adj" fmla="val 5797"/>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5" name="Shape 23"/>
          <p:cNvSpPr/>
          <p:nvPr/>
        </p:nvSpPr>
        <p:spPr>
          <a:xfrm>
            <a:off x="841248" y="4453128"/>
            <a:ext cx="384048" cy="384048"/>
          </a:xfrm>
          <a:prstGeom prst="ellipse">
            <a:avLst/>
          </a:prstGeom>
          <a:solidFill>
            <a:srgbClr val="E8703A"/>
          </a:solidFill>
          <a:ln w="12700">
            <a:solidFill>
              <a:srgbClr val="E8703A"/>
            </a:solidFill>
            <a:prstDash val="solid"/>
          </a:ln>
        </p:spPr>
      </p:sp>
      <p:sp>
        <p:nvSpPr>
          <p:cNvPr id="26" name="Text 24"/>
          <p:cNvSpPr txBox="1"/>
          <p:nvPr/>
        </p:nvSpPr>
        <p:spPr>
          <a:xfrm>
            <a:off x="841248"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371600" y="4416552"/>
            <a:ext cx="4297680" cy="347472"/>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 reproducibility defect in LIME</a:t>
            </a:r>
            <a:endParaRPr lang="en-US" sz="1450" dirty="0"/>
          </a:p>
        </p:txBody>
      </p:sp>
      <p:sp>
        <p:nvSpPr>
          <p:cNvPr id="28" name="Text 26"/>
          <p:cNvSpPr txBox="1"/>
          <p:nvPr/>
        </p:nvSpPr>
        <p:spPr>
          <a:xfrm>
            <a:off x="914400" y="4818888"/>
            <a:ext cx="4754880" cy="68580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Found, measured, fixed, and shown to have inflated the headline agreement from 0.58 to 0.73.</a:t>
            </a:r>
            <a:endParaRPr lang="en-US" sz="1150" dirty="0"/>
          </a:p>
        </p:txBody>
      </p:sp>
      <p:sp>
        <p:nvSpPr>
          <p:cNvPr id="29" name="Shape 27"/>
          <p:cNvSpPr/>
          <p:nvPr/>
        </p:nvSpPr>
        <p:spPr>
          <a:xfrm>
            <a:off x="6263640" y="4288536"/>
            <a:ext cx="5257800" cy="1261872"/>
          </a:xfrm>
          <a:prstGeom prst="roundRect">
            <a:avLst>
              <a:gd name="adj" fmla="val 5797"/>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30" name="Shape 28"/>
          <p:cNvSpPr/>
          <p:nvPr/>
        </p:nvSpPr>
        <p:spPr>
          <a:xfrm>
            <a:off x="6464808" y="4453128"/>
            <a:ext cx="384048" cy="384048"/>
          </a:xfrm>
          <a:prstGeom prst="ellipse">
            <a:avLst/>
          </a:prstGeom>
          <a:solidFill>
            <a:srgbClr val="E8703A"/>
          </a:solidFill>
          <a:ln w="12700">
            <a:solidFill>
              <a:srgbClr val="E8703A"/>
            </a:solidFill>
            <a:prstDash val="solid"/>
          </a:ln>
        </p:spPr>
      </p:sp>
      <p:sp>
        <p:nvSpPr>
          <p:cNvPr id="31" name="Text 29"/>
          <p:cNvSpPr txBox="1"/>
          <p:nvPr/>
        </p:nvSpPr>
        <p:spPr>
          <a:xfrm>
            <a:off x="6464808"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6995160" y="4416552"/>
            <a:ext cx="4297680" cy="347472"/>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 working forecast-and-audit demo</a:t>
            </a:r>
            <a:endParaRPr lang="en-US" sz="1450" dirty="0"/>
          </a:p>
        </p:txBody>
      </p:sp>
      <p:sp>
        <p:nvSpPr>
          <p:cNvPr id="33" name="Text 31"/>
          <p:cNvSpPr txBox="1"/>
          <p:nvPr/>
        </p:nvSpPr>
        <p:spPr>
          <a:xfrm>
            <a:off x="6537960" y="4818888"/>
            <a:ext cx="4754880" cy="685800"/>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Next-session forecasts on 431 live stocks, explained and audited in real time by the study's own code.</a:t>
            </a:r>
            <a:endParaRPr lang="en-US" sz="1150" dirty="0"/>
          </a:p>
        </p:txBody>
      </p:sp>
      <p:sp>
        <p:nvSpPr>
          <p:cNvPr id="34" name="Shape 32"/>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35" name="Text 33"/>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 negative forecast result is reported in full. That is what makes the five positive methodological results worth anything.</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365760"/>
            <a:ext cx="10058400" cy="274320"/>
          </a:xfrm>
          <a:prstGeom prst="rect">
            <a:avLst/>
          </a:prstGeom>
          <a:noFill/>
          <a:ln/>
        </p:spPr>
        <p:txBody>
          <a:bodyPr wrap="square" lIns="0" tIns="0" rIns="0" bIns="0" rtlCol="0" anchor="ctr"/>
          <a:lstStyle/>
          <a:p>
            <a:pPr indent="0" marL="0">
              <a:buNone/>
            </a:pPr>
            <a:r>
              <a:rPr lang="en-US" sz="1200" b="1" spc="200" kern="0" dirty="0">
                <a:solidFill>
                  <a:srgbClr val="E8703A"/>
                </a:solidFill>
                <a:latin typeface="Calibri" pitchFamily="34" charset="0"/>
                <a:ea typeface="Calibri" pitchFamily="34" charset="-122"/>
                <a:cs typeface="Calibri" pitchFamily="34" charset="-120"/>
              </a:rPr>
              <a:t>LIMITATIONS</a:t>
            </a:r>
            <a:endParaRPr lang="en-US" sz="1200" dirty="0"/>
          </a:p>
        </p:txBody>
      </p:sp>
      <p:sp>
        <p:nvSpPr>
          <p:cNvPr id="3" name="Text 1"/>
          <p:cNvSpPr txBox="1"/>
          <p:nvPr/>
        </p:nvSpPr>
        <p:spPr>
          <a:xfrm>
            <a:off x="640080" y="640080"/>
            <a:ext cx="1090879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Stated plainly, before anyone asks</a:t>
            </a:r>
            <a:endParaRPr lang="en-US" sz="3000" dirty="0"/>
          </a:p>
        </p:txBody>
      </p:sp>
      <p:sp>
        <p:nvSpPr>
          <p:cNvPr id="4" name="Shape 2"/>
          <p:cNvSpPr/>
          <p:nvPr/>
        </p:nvSpPr>
        <p:spPr>
          <a:xfrm>
            <a:off x="640080" y="1554480"/>
            <a:ext cx="5257800" cy="1234440"/>
          </a:xfrm>
          <a:prstGeom prst="roundRect">
            <a:avLst>
              <a:gd name="adj" fmla="val 592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5" name="Text 3"/>
          <p:cNvSpPr txBox="1"/>
          <p:nvPr/>
        </p:nvSpPr>
        <p:spPr>
          <a:xfrm>
            <a:off x="914400" y="1682496"/>
            <a:ext cx="4663440" cy="32004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Universe</a:t>
            </a:r>
            <a:endParaRPr lang="en-US" sz="1500" dirty="0"/>
          </a:p>
        </p:txBody>
      </p:sp>
      <p:sp>
        <p:nvSpPr>
          <p:cNvPr id="6" name="Text 4"/>
          <p:cNvSpPr txBox="1"/>
          <p:nvPr/>
        </p:nvSpPr>
        <p:spPr>
          <a:xfrm>
            <a:off x="914400" y="2029968"/>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474 large-cap US stocks that survived to 2022. Survivorship bias flatters any backtest; the live demo makes the 43 lost tickers visible but the study panel cannot fix it.</a:t>
            </a:r>
            <a:endParaRPr lang="en-US" sz="1150" dirty="0"/>
          </a:p>
        </p:txBody>
      </p:sp>
      <p:sp>
        <p:nvSpPr>
          <p:cNvPr id="7" name="Shape 5"/>
          <p:cNvSpPr/>
          <p:nvPr/>
        </p:nvSpPr>
        <p:spPr>
          <a:xfrm>
            <a:off x="6263640" y="1554480"/>
            <a:ext cx="5257800" cy="1234440"/>
          </a:xfrm>
          <a:prstGeom prst="roundRect">
            <a:avLst>
              <a:gd name="adj" fmla="val 5926"/>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8" name="Text 6"/>
          <p:cNvSpPr txBox="1"/>
          <p:nvPr/>
        </p:nvSpPr>
        <p:spPr>
          <a:xfrm>
            <a:off x="6537960" y="1682496"/>
            <a:ext cx="4663440" cy="32004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Horizon</a:t>
            </a:r>
            <a:endParaRPr lang="en-US" sz="1500" dirty="0"/>
          </a:p>
        </p:txBody>
      </p:sp>
      <p:sp>
        <p:nvSpPr>
          <p:cNvPr id="9" name="Text 7"/>
          <p:cNvSpPr txBox="1"/>
          <p:nvPr/>
        </p:nvSpPr>
        <p:spPr>
          <a:xfrm>
            <a:off x="6537960" y="2029968"/>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One day ahead only. Nothing here says anything about weekly or monthly horizons, where the signal-to-noise ratio is different.</a:t>
            </a:r>
            <a:endParaRPr lang="en-US" sz="1150" dirty="0"/>
          </a:p>
        </p:txBody>
      </p:sp>
      <p:sp>
        <p:nvSpPr>
          <p:cNvPr id="10" name="Shape 8"/>
          <p:cNvSpPr/>
          <p:nvPr/>
        </p:nvSpPr>
        <p:spPr>
          <a:xfrm>
            <a:off x="640080" y="2926080"/>
            <a:ext cx="5257800" cy="1234440"/>
          </a:xfrm>
          <a:prstGeom prst="roundRect">
            <a:avLst>
              <a:gd name="adj" fmla="val 592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1" name="Text 9"/>
          <p:cNvSpPr txBox="1"/>
          <p:nvPr/>
        </p:nvSpPr>
        <p:spPr>
          <a:xfrm>
            <a:off x="914400" y="3054096"/>
            <a:ext cx="4663440" cy="32004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Features</a:t>
            </a:r>
            <a:endParaRPr lang="en-US" sz="1500" dirty="0"/>
          </a:p>
        </p:txBody>
      </p:sp>
      <p:sp>
        <p:nvSpPr>
          <p:cNvPr id="12" name="Text 10"/>
          <p:cNvSpPr txBox="1"/>
          <p:nvPr/>
        </p:nvSpPr>
        <p:spPr>
          <a:xfrm>
            <a:off x="914400" y="3401568"/>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Price, volume and market context only. No fundamentals, no news, no sentiment, no order book.</a:t>
            </a:r>
            <a:endParaRPr lang="en-US" sz="1150" dirty="0"/>
          </a:p>
        </p:txBody>
      </p:sp>
      <p:sp>
        <p:nvSpPr>
          <p:cNvPr id="13" name="Shape 11"/>
          <p:cNvSpPr/>
          <p:nvPr/>
        </p:nvSpPr>
        <p:spPr>
          <a:xfrm>
            <a:off x="6263640" y="2926080"/>
            <a:ext cx="5257800" cy="1234440"/>
          </a:xfrm>
          <a:prstGeom prst="roundRect">
            <a:avLst>
              <a:gd name="adj" fmla="val 5926"/>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4" name="Text 12"/>
          <p:cNvSpPr txBox="1"/>
          <p:nvPr/>
        </p:nvSpPr>
        <p:spPr>
          <a:xfrm>
            <a:off x="6537960" y="3054096"/>
            <a:ext cx="4663440" cy="32004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Model</a:t>
            </a:r>
            <a:endParaRPr lang="en-US" sz="1500" dirty="0"/>
          </a:p>
        </p:txBody>
      </p:sp>
      <p:sp>
        <p:nvSpPr>
          <p:cNvPr id="15" name="Text 13"/>
          <p:cNvSpPr txBox="1"/>
          <p:nvPr/>
        </p:nvSpPr>
        <p:spPr>
          <a:xfrm>
            <a:off x="6537960" y="3401568"/>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One model family. The audit method generalises to any tree ensemble, but the specific findings are about this Random Forest.</a:t>
            </a:r>
            <a:endParaRPr lang="en-US" sz="1150" dirty="0"/>
          </a:p>
        </p:txBody>
      </p:sp>
      <p:sp>
        <p:nvSpPr>
          <p:cNvPr id="16" name="Shape 14"/>
          <p:cNvSpPr/>
          <p:nvPr/>
        </p:nvSpPr>
        <p:spPr>
          <a:xfrm>
            <a:off x="640080" y="4297680"/>
            <a:ext cx="5257800" cy="1234440"/>
          </a:xfrm>
          <a:prstGeom prst="roundRect">
            <a:avLst>
              <a:gd name="adj" fmla="val 5926"/>
            </a:avLst>
          </a:prstGeom>
          <a:solidFill>
            <a:srgbClr val="F4F7FC"/>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17" name="Text 15"/>
          <p:cNvSpPr txBox="1"/>
          <p:nvPr/>
        </p:nvSpPr>
        <p:spPr>
          <a:xfrm>
            <a:off x="914400" y="4425696"/>
            <a:ext cx="4663440" cy="32004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Explainers</a:t>
            </a:r>
            <a:endParaRPr lang="en-US" sz="1500" dirty="0"/>
          </a:p>
        </p:txBody>
      </p:sp>
      <p:sp>
        <p:nvSpPr>
          <p:cNvPr id="18" name="Text 16"/>
          <p:cNvSpPr txBox="1"/>
          <p:nvPr/>
        </p:nvSpPr>
        <p:spPr>
          <a:xfrm>
            <a:off x="914400" y="4773168"/>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TreeSHAP and LIME. Not counterfactual, anchor or concept-based methods.</a:t>
            </a:r>
            <a:endParaRPr lang="en-US" sz="1150" dirty="0"/>
          </a:p>
        </p:txBody>
      </p:sp>
      <p:sp>
        <p:nvSpPr>
          <p:cNvPr id="19" name="Shape 17"/>
          <p:cNvSpPr/>
          <p:nvPr/>
        </p:nvSpPr>
        <p:spPr>
          <a:xfrm>
            <a:off x="6263640" y="4297680"/>
            <a:ext cx="5257800" cy="1234440"/>
          </a:xfrm>
          <a:prstGeom prst="roundRect">
            <a:avLst>
              <a:gd name="adj" fmla="val 5926"/>
            </a:avLst>
          </a:prstGeom>
          <a:solidFill>
            <a:srgbClr val="FFFFFF"/>
          </a:solidFill>
          <a:ln w="12700">
            <a:solidFill>
              <a:srgbClr val="DCE4F2"/>
            </a:solidFill>
            <a:prstDash val="solid"/>
          </a:ln>
          <a:effectLst>
            <a:outerShdw sx="100000" sy="100000" kx="0" ky="0" algn="bl" rotWithShape="0" blurRad="101600" dist="12700" dir="5400000">
              <a:srgbClr val="9AA7BD">
                <a:alpha val="22000"/>
              </a:srgbClr>
            </a:outerShdw>
          </a:effectLst>
        </p:spPr>
      </p:sp>
      <p:sp>
        <p:nvSpPr>
          <p:cNvPr id="20" name="Text 18"/>
          <p:cNvSpPr txBox="1"/>
          <p:nvPr/>
        </p:nvSpPr>
        <p:spPr>
          <a:xfrm>
            <a:off x="6537960" y="4425696"/>
            <a:ext cx="4663440" cy="320040"/>
          </a:xfrm>
          <a:prstGeom prst="rect">
            <a:avLst/>
          </a:prstGeom>
          <a:noFill/>
          <a:ln/>
        </p:spPr>
        <p:txBody>
          <a:bodyPr wrap="square" lIns="0" tIns="0" rIns="0" bIns="0" rtlCol="0" anchor="ctr"/>
          <a:lstStyle/>
          <a:p>
            <a:pPr indent="0" marL="0">
              <a:buNone/>
            </a:pPr>
            <a:r>
              <a:rPr lang="en-US" sz="1500" b="1" dirty="0">
                <a:solidFill>
                  <a:srgbClr val="E8703A"/>
                </a:solidFill>
                <a:latin typeface="Cambria" pitchFamily="34" charset="0"/>
                <a:ea typeface="Cambria" pitchFamily="34" charset="-122"/>
                <a:cs typeface="Cambria" pitchFamily="34" charset="-120"/>
              </a:rPr>
              <a:t>Costs</a:t>
            </a:r>
            <a:endParaRPr lang="en-US" sz="1500" dirty="0"/>
          </a:p>
        </p:txBody>
      </p:sp>
      <p:sp>
        <p:nvSpPr>
          <p:cNvPr id="21" name="Text 19"/>
          <p:cNvSpPr txBox="1"/>
          <p:nvPr/>
        </p:nvSpPr>
        <p:spPr>
          <a:xfrm>
            <a:off x="6537960" y="4773168"/>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26324A"/>
                </a:solidFill>
                <a:latin typeface="Calibri" pitchFamily="34" charset="0"/>
                <a:ea typeface="Calibri" pitchFamily="34" charset="-122"/>
                <a:cs typeface="Calibri" pitchFamily="34" charset="-120"/>
              </a:rPr>
              <a:t>A flat 10 bp round-trip assumption. Real costs vary by stock, size and venue.</a:t>
            </a:r>
            <a:endParaRPr lang="en-US" sz="1150" dirty="0"/>
          </a:p>
        </p:txBody>
      </p:sp>
      <p:sp>
        <p:nvSpPr>
          <p:cNvPr id="22" name="Shape 20"/>
          <p:cNvSpPr/>
          <p:nvPr/>
        </p:nvSpPr>
        <p:spPr>
          <a:xfrm>
            <a:off x="640080" y="5742432"/>
            <a:ext cx="10908792" cy="658368"/>
          </a:xfrm>
          <a:prstGeom prst="roundRect">
            <a:avLst>
              <a:gd name="adj" fmla="val 8333"/>
            </a:avLst>
          </a:prstGeom>
          <a:solidFill>
            <a:srgbClr val="1E2761"/>
          </a:solidFill>
          <a:ln w="12700">
            <a:solidFill>
              <a:srgbClr val="1E2761"/>
            </a:solidFill>
            <a:prstDash val="solid"/>
          </a:ln>
        </p:spPr>
      </p:sp>
      <p:sp>
        <p:nvSpPr>
          <p:cNvPr id="23" name="Text 21"/>
          <p:cNvSpPr txBox="1"/>
          <p:nvPr/>
        </p:nvSpPr>
        <p:spPr>
          <a:xfrm>
            <a:off x="868680" y="5742432"/>
            <a:ext cx="10451592" cy="6583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None of these weaken the audit method. They bound what the specific numbers are about.</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3F"/>
        </a:solidFill>
      </p:bgPr>
    </p:bg>
    <p:spTree>
      <p:nvGrpSpPr>
        <p:cNvPr id="1" name=""/>
        <p:cNvGrpSpPr/>
        <p:nvPr/>
      </p:nvGrpSpPr>
      <p:grpSpPr>
        <a:xfrm>
          <a:off x="0" y="0"/>
          <a:ext cx="0" cy="0"/>
          <a:chOff x="0" y="0"/>
          <a:chExt cx="0" cy="0"/>
        </a:xfrm>
      </p:grpSpPr>
      <p:sp>
        <p:nvSpPr>
          <p:cNvPr id="2" name="Shape 0"/>
          <p:cNvSpPr/>
          <p:nvPr/>
        </p:nvSpPr>
        <p:spPr>
          <a:xfrm>
            <a:off x="9875520" y="-1097280"/>
            <a:ext cx="4206240" cy="4206240"/>
          </a:xfrm>
          <a:prstGeom prst="ellipse">
            <a:avLst/>
          </a:prstGeom>
          <a:solidFill>
            <a:srgbClr val="1E2761"/>
          </a:solidFill>
          <a:ln w="12700">
            <a:solidFill>
              <a:srgbClr val="1E2761"/>
            </a:solidFill>
            <a:prstDash val="solid"/>
          </a:ln>
        </p:spPr>
      </p:sp>
      <p:sp>
        <p:nvSpPr>
          <p:cNvPr id="3" name="Text 1"/>
          <p:cNvSpPr txBox="1"/>
          <p:nvPr/>
        </p:nvSpPr>
        <p:spPr>
          <a:xfrm>
            <a:off x="640080" y="594360"/>
            <a:ext cx="8229600" cy="320040"/>
          </a:xfrm>
          <a:prstGeom prst="rect">
            <a:avLst/>
          </a:prstGeom>
          <a:noFill/>
          <a:ln/>
        </p:spPr>
        <p:txBody>
          <a:bodyPr wrap="square" lIns="0" tIns="0" rIns="0" bIns="0" rtlCol="0" anchor="ctr"/>
          <a:lstStyle/>
          <a:p>
            <a:pPr indent="0" marL="0">
              <a:buNone/>
            </a:pPr>
            <a:r>
              <a:rPr lang="en-US" sz="1300" b="1" spc="200" kern="0" dirty="0">
                <a:solidFill>
                  <a:srgbClr val="E8703A"/>
                </a:solidFill>
                <a:latin typeface="Calibri" pitchFamily="34" charset="0"/>
                <a:ea typeface="Calibri" pitchFamily="34" charset="-122"/>
                <a:cs typeface="Calibri" pitchFamily="34" charset="-120"/>
              </a:rPr>
              <a:t>CONCLUSION</a:t>
            </a:r>
            <a:endParaRPr lang="en-US" sz="1300" dirty="0"/>
          </a:p>
        </p:txBody>
      </p:sp>
      <p:sp>
        <p:nvSpPr>
          <p:cNvPr id="4" name="Text 2"/>
          <p:cNvSpPr txBox="1"/>
          <p:nvPr/>
        </p:nvSpPr>
        <p:spPr>
          <a:xfrm>
            <a:off x="640080" y="960120"/>
            <a:ext cx="9601200" cy="118872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The forecast is near-worthless.</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The audit of its explanation is the result.</a:t>
            </a:r>
            <a:endParaRPr lang="en-US" sz="3000" dirty="0"/>
          </a:p>
        </p:txBody>
      </p:sp>
      <p:sp>
        <p:nvSpPr>
          <p:cNvPr id="5" name="Text 3"/>
          <p:cNvSpPr txBox="1"/>
          <p:nvPr/>
        </p:nvSpPr>
        <p:spPr>
          <a:xfrm>
            <a:off x="640080" y="2377440"/>
            <a:ext cx="685800" cy="365760"/>
          </a:xfrm>
          <a:prstGeom prst="rect">
            <a:avLst/>
          </a:prstGeom>
          <a:noFill/>
          <a:ln/>
        </p:spPr>
        <p:txBody>
          <a:bodyPr wrap="square" lIns="0" tIns="0" rIns="0" bIns="0" rtlCol="0" anchor="ctr"/>
          <a:lstStyle/>
          <a:p>
            <a:pPr indent="0" marL="0">
              <a:buNone/>
            </a:pPr>
            <a:r>
              <a:rPr lang="en-US" sz="1400" b="1" dirty="0">
                <a:solidFill>
                  <a:srgbClr val="E8703A"/>
                </a:solidFill>
                <a:latin typeface="Cambria" pitchFamily="34" charset="0"/>
                <a:ea typeface="Cambria" pitchFamily="34" charset="-122"/>
                <a:cs typeface="Cambria" pitchFamily="34" charset="-120"/>
              </a:rPr>
              <a:t>RQ1</a:t>
            </a:r>
            <a:endParaRPr lang="en-US" sz="1400" dirty="0"/>
          </a:p>
        </p:txBody>
      </p:sp>
      <p:sp>
        <p:nvSpPr>
          <p:cNvPr id="6" name="Text 4"/>
          <p:cNvSpPr txBox="1"/>
          <p:nvPr/>
        </p:nvSpPr>
        <p:spPr>
          <a:xfrm>
            <a:off x="1371600" y="2377440"/>
            <a:ext cx="9966960" cy="548640"/>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R² +0.00013 in return space, IC +0.0090 (t = 1.39), direction 51.77% against a 52.84% majority rule. Skill exists in one regime (p = 0.043) and inverts in another.</a:t>
            </a:r>
            <a:endParaRPr lang="en-US" sz="1250" dirty="0"/>
          </a:p>
        </p:txBody>
      </p:sp>
      <p:sp>
        <p:nvSpPr>
          <p:cNvPr id="7" name="Text 5"/>
          <p:cNvSpPr txBox="1"/>
          <p:nvPr/>
        </p:nvSpPr>
        <p:spPr>
          <a:xfrm>
            <a:off x="640080" y="2953512"/>
            <a:ext cx="685800" cy="365760"/>
          </a:xfrm>
          <a:prstGeom prst="rect">
            <a:avLst/>
          </a:prstGeom>
          <a:noFill/>
          <a:ln/>
        </p:spPr>
        <p:txBody>
          <a:bodyPr wrap="square" lIns="0" tIns="0" rIns="0" bIns="0" rtlCol="0" anchor="ctr"/>
          <a:lstStyle/>
          <a:p>
            <a:pPr indent="0" marL="0">
              <a:buNone/>
            </a:pPr>
            <a:r>
              <a:rPr lang="en-US" sz="1400" b="1" dirty="0">
                <a:solidFill>
                  <a:srgbClr val="E8703A"/>
                </a:solidFill>
                <a:latin typeface="Cambria" pitchFamily="34" charset="0"/>
                <a:ea typeface="Cambria" pitchFamily="34" charset="-122"/>
                <a:cs typeface="Cambria" pitchFamily="34" charset="-120"/>
              </a:rPr>
              <a:t>RQ2</a:t>
            </a:r>
            <a:endParaRPr lang="en-US" sz="1400" dirty="0"/>
          </a:p>
        </p:txBody>
      </p:sp>
      <p:sp>
        <p:nvSpPr>
          <p:cNvPr id="8" name="Text 6"/>
          <p:cNvSpPr txBox="1"/>
          <p:nvPr/>
        </p:nvSpPr>
        <p:spPr>
          <a:xfrm>
            <a:off x="1371600" y="2953512"/>
            <a:ext cx="9966960" cy="548640"/>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72.2% of attribution goes to market and sector features. The model learned the market factor, not stock selection.</a:t>
            </a:r>
            <a:endParaRPr lang="en-US" sz="1250" dirty="0"/>
          </a:p>
        </p:txBody>
      </p:sp>
      <p:sp>
        <p:nvSpPr>
          <p:cNvPr id="9" name="Text 7"/>
          <p:cNvSpPr txBox="1"/>
          <p:nvPr/>
        </p:nvSpPr>
        <p:spPr>
          <a:xfrm>
            <a:off x="640080" y="3529584"/>
            <a:ext cx="685800" cy="365760"/>
          </a:xfrm>
          <a:prstGeom prst="rect">
            <a:avLst/>
          </a:prstGeom>
          <a:noFill/>
          <a:ln/>
        </p:spPr>
        <p:txBody>
          <a:bodyPr wrap="square" lIns="0" tIns="0" rIns="0" bIns="0" rtlCol="0" anchor="ctr"/>
          <a:lstStyle/>
          <a:p>
            <a:pPr indent="0" marL="0">
              <a:buNone/>
            </a:pPr>
            <a:r>
              <a:rPr lang="en-US" sz="1400" b="1" dirty="0">
                <a:solidFill>
                  <a:srgbClr val="E8703A"/>
                </a:solidFill>
                <a:latin typeface="Cambria" pitchFamily="34" charset="0"/>
                <a:ea typeface="Cambria" pitchFamily="34" charset="-122"/>
                <a:cs typeface="Cambria" pitchFamily="34" charset="-120"/>
              </a:rPr>
              <a:t>RQ3</a:t>
            </a:r>
            <a:endParaRPr lang="en-US" sz="1400" dirty="0"/>
          </a:p>
        </p:txBody>
      </p:sp>
      <p:sp>
        <p:nvSpPr>
          <p:cNvPr id="10" name="Text 8"/>
          <p:cNvSpPr txBox="1"/>
          <p:nvPr/>
        </p:nvSpPr>
        <p:spPr>
          <a:xfrm>
            <a:off x="1371600" y="3529584"/>
            <a:ext cx="9966960" cy="548640"/>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SHAP is faithful (2.3× AOPC, fidelity 0.98+) and stable across seeds (τ 0.85), less so across retrains (τ 0.44–0.77).</a:t>
            </a:r>
            <a:endParaRPr lang="en-US" sz="1250" dirty="0"/>
          </a:p>
        </p:txBody>
      </p:sp>
      <p:sp>
        <p:nvSpPr>
          <p:cNvPr id="11" name="Text 9"/>
          <p:cNvSpPr txBox="1"/>
          <p:nvPr/>
        </p:nvSpPr>
        <p:spPr>
          <a:xfrm>
            <a:off x="640080" y="4105656"/>
            <a:ext cx="685800" cy="365760"/>
          </a:xfrm>
          <a:prstGeom prst="rect">
            <a:avLst/>
          </a:prstGeom>
          <a:noFill/>
          <a:ln/>
        </p:spPr>
        <p:txBody>
          <a:bodyPr wrap="square" lIns="0" tIns="0" rIns="0" bIns="0" rtlCol="0" anchor="ctr"/>
          <a:lstStyle/>
          <a:p>
            <a:pPr indent="0" marL="0">
              <a:buNone/>
            </a:pPr>
            <a:r>
              <a:rPr lang="en-US" sz="1400" b="1" dirty="0">
                <a:solidFill>
                  <a:srgbClr val="E8703A"/>
                </a:solidFill>
                <a:latin typeface="Cambria" pitchFamily="34" charset="0"/>
                <a:ea typeface="Cambria" pitchFamily="34" charset="-122"/>
                <a:cs typeface="Cambria" pitchFamily="34" charset="-120"/>
              </a:rPr>
              <a:t>RQ4</a:t>
            </a:r>
            <a:endParaRPr lang="en-US" sz="1400" dirty="0"/>
          </a:p>
        </p:txBody>
      </p:sp>
      <p:sp>
        <p:nvSpPr>
          <p:cNvPr id="12" name="Text 10"/>
          <p:cNvSpPr txBox="1"/>
          <p:nvPr/>
        </p:nvSpPr>
        <p:spPr>
          <a:xfrm>
            <a:off x="1371600" y="4105656"/>
            <a:ext cx="9966960" cy="548640"/>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Explanations drift significantly across regimes (p = 0.003) and sectors (p = 0.001).</a:t>
            </a:r>
            <a:endParaRPr lang="en-US" sz="1250" dirty="0"/>
          </a:p>
        </p:txBody>
      </p:sp>
      <p:sp>
        <p:nvSpPr>
          <p:cNvPr id="13" name="Text 11"/>
          <p:cNvSpPr txBox="1"/>
          <p:nvPr/>
        </p:nvSpPr>
        <p:spPr>
          <a:xfrm>
            <a:off x="640080" y="4681728"/>
            <a:ext cx="685800" cy="365760"/>
          </a:xfrm>
          <a:prstGeom prst="rect">
            <a:avLst/>
          </a:prstGeom>
          <a:noFill/>
          <a:ln/>
        </p:spPr>
        <p:txBody>
          <a:bodyPr wrap="square" lIns="0" tIns="0" rIns="0" bIns="0" rtlCol="0" anchor="ctr"/>
          <a:lstStyle/>
          <a:p>
            <a:pPr indent="0" marL="0">
              <a:buNone/>
            </a:pPr>
            <a:r>
              <a:rPr lang="en-US" sz="1400" b="1" dirty="0">
                <a:solidFill>
                  <a:srgbClr val="E8703A"/>
                </a:solidFill>
                <a:latin typeface="Cambria" pitchFamily="34" charset="0"/>
                <a:ea typeface="Cambria" pitchFamily="34" charset="-122"/>
                <a:cs typeface="Cambria" pitchFamily="34" charset="-120"/>
              </a:rPr>
              <a:t>RQ5</a:t>
            </a:r>
            <a:endParaRPr lang="en-US" sz="1400" dirty="0"/>
          </a:p>
        </p:txBody>
      </p:sp>
      <p:sp>
        <p:nvSpPr>
          <p:cNvPr id="14" name="Text 12"/>
          <p:cNvSpPr txBox="1"/>
          <p:nvPr/>
        </p:nvSpPr>
        <p:spPr>
          <a:xfrm>
            <a:off x="1371600" y="4681728"/>
            <a:ext cx="9966960" cy="548640"/>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A fully shuffled model is exposed (τ 0.13). A within-day shuffled one is not (τ 0.56) — which pins down exactly what was learned.</a:t>
            </a:r>
            <a:endParaRPr lang="en-US" sz="1250" dirty="0"/>
          </a:p>
        </p:txBody>
      </p:sp>
      <p:sp>
        <p:nvSpPr>
          <p:cNvPr id="15" name="Text 13"/>
          <p:cNvSpPr txBox="1"/>
          <p:nvPr/>
        </p:nvSpPr>
        <p:spPr>
          <a:xfrm>
            <a:off x="640080" y="5257800"/>
            <a:ext cx="685800" cy="365760"/>
          </a:xfrm>
          <a:prstGeom prst="rect">
            <a:avLst/>
          </a:prstGeom>
          <a:noFill/>
          <a:ln/>
        </p:spPr>
        <p:txBody>
          <a:bodyPr wrap="square" lIns="0" tIns="0" rIns="0" bIns="0" rtlCol="0" anchor="ctr"/>
          <a:lstStyle/>
          <a:p>
            <a:pPr indent="0" marL="0">
              <a:buNone/>
            </a:pPr>
            <a:r>
              <a:rPr lang="en-US" sz="1400" b="1" dirty="0">
                <a:solidFill>
                  <a:srgbClr val="E8703A"/>
                </a:solidFill>
                <a:latin typeface="Cambria" pitchFamily="34" charset="0"/>
                <a:ea typeface="Cambria" pitchFamily="34" charset="-122"/>
                <a:cs typeface="Cambria" pitchFamily="34" charset="-120"/>
              </a:rPr>
              <a:t>RQ6</a:t>
            </a:r>
            <a:endParaRPr lang="en-US" sz="1400" dirty="0"/>
          </a:p>
        </p:txBody>
      </p:sp>
      <p:sp>
        <p:nvSpPr>
          <p:cNvPr id="16" name="Text 14"/>
          <p:cNvSpPr txBox="1"/>
          <p:nvPr/>
        </p:nvSpPr>
        <p:spPr>
          <a:xfrm>
            <a:off x="1371600" y="5257800"/>
            <a:ext cx="9966960" cy="548640"/>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SHAP and LIME agree globally (τ 0.58) and disagree on 41% of individual forecasts. LIME's own surrogate R² is below 0.3 two thirds of the time.</a:t>
            </a:r>
            <a:endParaRPr lang="en-US" sz="1250" dirty="0"/>
          </a:p>
        </p:txBody>
      </p:sp>
      <p:sp>
        <p:nvSpPr>
          <p:cNvPr id="17" name="Text 15"/>
          <p:cNvSpPr txBox="1"/>
          <p:nvPr/>
        </p:nvSpPr>
        <p:spPr>
          <a:xfrm>
            <a:off x="640080" y="5989320"/>
            <a:ext cx="10515600" cy="36576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And the audit found a reproducibility bug in the audit tool itself — the clearest argument there is for running one.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Trustworthy Explanations for Random-Forest Stock Price Forecasting</dc:title>
  <dc:subject>PptxGenJS Presentation</dc:subject>
  <dc:creator>StockRF-XAI</dc:creator>
  <cp:lastModifiedBy>StockRF-XAI</cp:lastModifiedBy>
  <cp:revision>1</cp:revision>
  <dcterms:created xsi:type="dcterms:W3CDTF">2026-10-30T08:06:23Z</dcterms:created>
  <dcterms:modified xsi:type="dcterms:W3CDTF">2026-10-30T08:06:23Z</dcterms:modified>
</cp:coreProperties>
</file>